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8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SK" userId="98403871db0ab82b" providerId="LiveId" clId="{90C98A4D-90FC-4B25-8A97-24EE4C178DBC}"/>
    <pc:docChg chg="undo custSel modSld">
      <pc:chgData name="S SK" userId="98403871db0ab82b" providerId="LiveId" clId="{90C98A4D-90FC-4B25-8A97-24EE4C178DBC}" dt="2026-03-31T05:41:51.714" v="226" actId="20577"/>
      <pc:docMkLst>
        <pc:docMk/>
      </pc:docMkLst>
      <pc:sldChg chg="modSp mod">
        <pc:chgData name="S SK" userId="98403871db0ab82b" providerId="LiveId" clId="{90C98A4D-90FC-4B25-8A97-24EE4C178DBC}" dt="2026-03-31T05:41:51.714" v="226" actId="20577"/>
        <pc:sldMkLst>
          <pc:docMk/>
          <pc:sldMk cId="0" sldId="256"/>
        </pc:sldMkLst>
        <pc:spChg chg="mod">
          <ac:chgData name="S SK" userId="98403871db0ab82b" providerId="LiveId" clId="{90C98A4D-90FC-4B25-8A97-24EE4C178DBC}" dt="2026-03-05T04:53:21.899" v="124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 SK" userId="98403871db0ab82b" providerId="LiveId" clId="{90C98A4D-90FC-4B25-8A97-24EE4C178DBC}" dt="2026-03-31T05:41:51.714" v="226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S SK" userId="98403871db0ab82b" providerId="LiveId" clId="{90C98A4D-90FC-4B25-8A97-24EE4C178DBC}" dt="2026-03-05T04:53:01.133" v="107" actId="107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S SK" userId="98403871db0ab82b" providerId="LiveId" clId="{90C98A4D-90FC-4B25-8A97-24EE4C178DBC}" dt="2026-03-05T06:20:49.446" v="224" actId="20577"/>
        <pc:sldMkLst>
          <pc:docMk/>
          <pc:sldMk cId="0" sldId="259"/>
        </pc:sldMkLst>
        <pc:spChg chg="mod">
          <ac:chgData name="S SK" userId="98403871db0ab82b" providerId="LiveId" clId="{90C98A4D-90FC-4B25-8A97-24EE4C178DBC}" dt="2026-03-05T06:20:49.446" v="224" actId="20577"/>
          <ac:spMkLst>
            <pc:docMk/>
            <pc:sldMk cId="0" sldId="259"/>
            <ac:spMk id="30" creationId="{00000000-0000-0000-0000-000000000000}"/>
          </ac:spMkLst>
        </pc:spChg>
      </pc:sldChg>
      <pc:sldChg chg="modSp mod">
        <pc:chgData name="S SK" userId="98403871db0ab82b" providerId="LiveId" clId="{90C98A4D-90FC-4B25-8A97-24EE4C178DBC}" dt="2026-03-05T04:58:46.788" v="142" actId="20577"/>
        <pc:sldMkLst>
          <pc:docMk/>
          <pc:sldMk cId="0" sldId="263"/>
        </pc:sldMkLst>
        <pc:spChg chg="mod">
          <ac:chgData name="S SK" userId="98403871db0ab82b" providerId="LiveId" clId="{90C98A4D-90FC-4B25-8A97-24EE4C178DBC}" dt="2026-03-05T04:58:38.692" v="135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S SK" userId="98403871db0ab82b" providerId="LiveId" clId="{90C98A4D-90FC-4B25-8A97-24EE4C178DBC}" dt="2026-03-05T04:58:46.788" v="142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S SK" userId="98403871db0ab82b" providerId="LiveId" clId="{90C98A4D-90FC-4B25-8A97-24EE4C178DBC}" dt="2026-03-04T16:15:37.150" v="1"/>
          <ac:spMkLst>
            <pc:docMk/>
            <pc:sldMk cId="0" sldId="263"/>
            <ac:spMk id="15" creationId="{00000000-0000-0000-0000-000000000000}"/>
          </ac:spMkLst>
        </pc:spChg>
        <pc:spChg chg="mod">
          <ac:chgData name="S SK" userId="98403871db0ab82b" providerId="LiveId" clId="{90C98A4D-90FC-4B25-8A97-24EE4C178DBC}" dt="2026-03-04T16:15:48.810" v="3"/>
          <ac:spMkLst>
            <pc:docMk/>
            <pc:sldMk cId="0" sldId="263"/>
            <ac:spMk id="16" creationId="{00000000-0000-0000-0000-000000000000}"/>
          </ac:spMkLst>
        </pc:spChg>
      </pc:sldChg>
      <pc:sldChg chg="modSp mod">
        <pc:chgData name="S SK" userId="98403871db0ab82b" providerId="LiveId" clId="{90C98A4D-90FC-4B25-8A97-24EE4C178DBC}" dt="2026-03-06T05:06:56.810" v="225" actId="1036"/>
        <pc:sldMkLst>
          <pc:docMk/>
          <pc:sldMk cId="0" sldId="264"/>
        </pc:sldMkLst>
        <pc:spChg chg="mod">
          <ac:chgData name="S SK" userId="98403871db0ab82b" providerId="LiveId" clId="{90C98A4D-90FC-4B25-8A97-24EE4C178DBC}" dt="2026-03-06T05:06:56.810" v="225" actId="1036"/>
          <ac:spMkLst>
            <pc:docMk/>
            <pc:sldMk cId="0" sldId="264"/>
            <ac:spMk id="13" creationId="{00000000-0000-0000-0000-000000000000}"/>
          </ac:spMkLst>
        </pc:spChg>
      </pc:sldChg>
      <pc:sldChg chg="modSp mod">
        <pc:chgData name="S SK" userId="98403871db0ab82b" providerId="LiveId" clId="{90C98A4D-90FC-4B25-8A97-24EE4C178DBC}" dt="2026-03-05T05:01:22.508" v="145"/>
        <pc:sldMkLst>
          <pc:docMk/>
          <pc:sldMk cId="0" sldId="266"/>
        </pc:sldMkLst>
        <pc:spChg chg="mod">
          <ac:chgData name="S SK" userId="98403871db0ab82b" providerId="LiveId" clId="{90C98A4D-90FC-4B25-8A97-24EE4C178DBC}" dt="2026-03-05T05:01:08.908" v="143"/>
          <ac:spMkLst>
            <pc:docMk/>
            <pc:sldMk cId="0" sldId="266"/>
            <ac:spMk id="9" creationId="{00000000-0000-0000-0000-000000000000}"/>
          </ac:spMkLst>
        </pc:spChg>
        <pc:spChg chg="mod">
          <ac:chgData name="S SK" userId="98403871db0ab82b" providerId="LiveId" clId="{90C98A4D-90FC-4B25-8A97-24EE4C178DBC}" dt="2026-03-05T05:01:22.508" v="145"/>
          <ac:spMkLst>
            <pc:docMk/>
            <pc:sldMk cId="0" sldId="266"/>
            <ac:spMk id="12" creationId="{00000000-0000-0000-0000-000000000000}"/>
          </ac:spMkLst>
        </pc:spChg>
      </pc:sldChg>
      <pc:sldChg chg="addSp delSp modSp mod">
        <pc:chgData name="S SK" userId="98403871db0ab82b" providerId="LiveId" clId="{90C98A4D-90FC-4B25-8A97-24EE4C178DBC}" dt="2026-03-05T05:04:58.094" v="199" actId="20577"/>
        <pc:sldMkLst>
          <pc:docMk/>
          <pc:sldMk cId="0" sldId="268"/>
        </pc:sldMkLst>
        <pc:spChg chg="mod">
          <ac:chgData name="S SK" userId="98403871db0ab82b" providerId="LiveId" clId="{90C98A4D-90FC-4B25-8A97-24EE4C178DBC}" dt="2026-03-05T05:02:10.292" v="147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S SK" userId="98403871db0ab82b" providerId="LiveId" clId="{90C98A4D-90FC-4B25-8A97-24EE4C178DBC}" dt="2026-03-05T05:02:44.141" v="156" actId="2057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S SK" userId="98403871db0ab82b" providerId="LiveId" clId="{90C98A4D-90FC-4B25-8A97-24EE4C178DBC}" dt="2026-03-05T05:03:01.520" v="163" actId="20577"/>
          <ac:spMkLst>
            <pc:docMk/>
            <pc:sldMk cId="0" sldId="268"/>
            <ac:spMk id="14" creationId="{00000000-0000-0000-0000-000000000000}"/>
          </ac:spMkLst>
        </pc:spChg>
        <pc:spChg chg="mod">
          <ac:chgData name="S SK" userId="98403871db0ab82b" providerId="LiveId" clId="{90C98A4D-90FC-4B25-8A97-24EE4C178DBC}" dt="2026-03-05T05:02:58.084" v="160" actId="20577"/>
          <ac:spMkLst>
            <pc:docMk/>
            <pc:sldMk cId="0" sldId="268"/>
            <ac:spMk id="18" creationId="{00000000-0000-0000-0000-000000000000}"/>
          </ac:spMkLst>
        </pc:spChg>
        <pc:spChg chg="mod">
          <ac:chgData name="S SK" userId="98403871db0ab82b" providerId="LiveId" clId="{90C98A4D-90FC-4B25-8A97-24EE4C178DBC}" dt="2026-03-05T05:03:40.458" v="175" actId="20577"/>
          <ac:spMkLst>
            <pc:docMk/>
            <pc:sldMk cId="0" sldId="268"/>
            <ac:spMk id="25" creationId="{00000000-0000-0000-0000-000000000000}"/>
          </ac:spMkLst>
        </pc:spChg>
        <pc:spChg chg="mod">
          <ac:chgData name="S SK" userId="98403871db0ab82b" providerId="LiveId" clId="{90C98A4D-90FC-4B25-8A97-24EE4C178DBC}" dt="2026-03-05T05:03:46.160" v="177" actId="6549"/>
          <ac:spMkLst>
            <pc:docMk/>
            <pc:sldMk cId="0" sldId="268"/>
            <ac:spMk id="28" creationId="{00000000-0000-0000-0000-000000000000}"/>
          </ac:spMkLst>
        </pc:spChg>
        <pc:spChg chg="add del mod">
          <ac:chgData name="S SK" userId="98403871db0ab82b" providerId="LiveId" clId="{90C98A4D-90FC-4B25-8A97-24EE4C178DBC}" dt="2026-03-05T05:04:38.198" v="184" actId="20577"/>
          <ac:spMkLst>
            <pc:docMk/>
            <pc:sldMk cId="0" sldId="268"/>
            <ac:spMk id="31" creationId="{00000000-0000-0000-0000-000000000000}"/>
          </ac:spMkLst>
        </pc:spChg>
        <pc:spChg chg="mod">
          <ac:chgData name="S SK" userId="98403871db0ab82b" providerId="LiveId" clId="{90C98A4D-90FC-4B25-8A97-24EE4C178DBC}" dt="2026-03-05T05:04:47.297" v="194" actId="20577"/>
          <ac:spMkLst>
            <pc:docMk/>
            <pc:sldMk cId="0" sldId="268"/>
            <ac:spMk id="34" creationId="{00000000-0000-0000-0000-000000000000}"/>
          </ac:spMkLst>
        </pc:spChg>
        <pc:spChg chg="mod">
          <ac:chgData name="S SK" userId="98403871db0ab82b" providerId="LiveId" clId="{90C98A4D-90FC-4B25-8A97-24EE4C178DBC}" dt="2026-03-05T05:04:58.094" v="199" actId="20577"/>
          <ac:spMkLst>
            <pc:docMk/>
            <pc:sldMk cId="0" sldId="268"/>
            <ac:spMk id="38" creationId="{00000000-0000-0000-0000-000000000000}"/>
          </ac:spMkLst>
        </pc:spChg>
      </pc:sldChg>
      <pc:sldChg chg="modSp mod">
        <pc:chgData name="S SK" userId="98403871db0ab82b" providerId="LiveId" clId="{90C98A4D-90FC-4B25-8A97-24EE4C178DBC}" dt="2026-03-04T16:31:39.461" v="54" actId="1036"/>
        <pc:sldMkLst>
          <pc:docMk/>
          <pc:sldMk cId="0" sldId="272"/>
        </pc:sldMkLst>
        <pc:spChg chg="mod">
          <ac:chgData name="S SK" userId="98403871db0ab82b" providerId="LiveId" clId="{90C98A4D-90FC-4B25-8A97-24EE4C178DBC}" dt="2026-03-04T16:31:39.461" v="54" actId="1036"/>
          <ac:spMkLst>
            <pc:docMk/>
            <pc:sldMk cId="0" sldId="272"/>
            <ac:spMk id="5" creationId="{00000000-0000-0000-0000-000000000000}"/>
          </ac:spMkLst>
        </pc:spChg>
      </pc:sldChg>
      <pc:sldChg chg="modSp mod">
        <pc:chgData name="S SK" userId="98403871db0ab82b" providerId="LiveId" clId="{90C98A4D-90FC-4B25-8A97-24EE4C178DBC}" dt="2026-03-05T05:06:27.496" v="222" actId="20577"/>
        <pc:sldMkLst>
          <pc:docMk/>
          <pc:sldMk cId="0" sldId="274"/>
        </pc:sldMkLst>
        <pc:spChg chg="mod">
          <ac:chgData name="S SK" userId="98403871db0ab82b" providerId="LiveId" clId="{90C98A4D-90FC-4B25-8A97-24EE4C178DBC}" dt="2026-03-05T05:05:57.503" v="201" actId="20577"/>
          <ac:spMkLst>
            <pc:docMk/>
            <pc:sldMk cId="0" sldId="274"/>
            <ac:spMk id="25" creationId="{00000000-0000-0000-0000-000000000000}"/>
          </ac:spMkLst>
        </pc:spChg>
        <pc:spChg chg="mod">
          <ac:chgData name="S SK" userId="98403871db0ab82b" providerId="LiveId" clId="{90C98A4D-90FC-4B25-8A97-24EE4C178DBC}" dt="2026-03-05T05:06:14.557" v="218" actId="20577"/>
          <ac:spMkLst>
            <pc:docMk/>
            <pc:sldMk cId="0" sldId="274"/>
            <ac:spMk id="28" creationId="{00000000-0000-0000-0000-000000000000}"/>
          </ac:spMkLst>
        </pc:spChg>
        <pc:spChg chg="mod">
          <ac:chgData name="S SK" userId="98403871db0ab82b" providerId="LiveId" clId="{90C98A4D-90FC-4B25-8A97-24EE4C178DBC}" dt="2026-03-05T05:06:04.878" v="209" actId="6549"/>
          <ac:spMkLst>
            <pc:docMk/>
            <pc:sldMk cId="0" sldId="274"/>
            <ac:spMk id="31" creationId="{00000000-0000-0000-0000-000000000000}"/>
          </ac:spMkLst>
        </pc:spChg>
        <pc:spChg chg="mod">
          <ac:chgData name="S SK" userId="98403871db0ab82b" providerId="LiveId" clId="{90C98A4D-90FC-4B25-8A97-24EE4C178DBC}" dt="2026-03-05T05:06:10.241" v="215" actId="20577"/>
          <ac:spMkLst>
            <pc:docMk/>
            <pc:sldMk cId="0" sldId="274"/>
            <ac:spMk id="34" creationId="{00000000-0000-0000-0000-000000000000}"/>
          </ac:spMkLst>
        </pc:spChg>
        <pc:spChg chg="mod">
          <ac:chgData name="S SK" userId="98403871db0ab82b" providerId="LiveId" clId="{90C98A4D-90FC-4B25-8A97-24EE4C178DBC}" dt="2026-03-05T05:06:27.496" v="222" actId="20577"/>
          <ac:spMkLst>
            <pc:docMk/>
            <pc:sldMk cId="0" sldId="274"/>
            <ac:spMk id="3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21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528" y="473065"/>
            <a:ext cx="11379654" cy="6045654"/>
          </a:xfrm>
          <a:custGeom>
            <a:avLst/>
            <a:gdLst/>
            <a:ahLst/>
            <a:cxnLst/>
            <a:rect l="l" t="t" r="r" b="b"/>
            <a:pathLst>
              <a:path w="11379654" h="6045654">
                <a:moveTo>
                  <a:pt x="0" y="0"/>
                </a:moveTo>
                <a:lnTo>
                  <a:pt x="11379654" y="0"/>
                </a:lnTo>
                <a:lnTo>
                  <a:pt x="11379654" y="6045654"/>
                </a:lnTo>
                <a:lnTo>
                  <a:pt x="0" y="60456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667425" y="17907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kern="0" spc="-36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PHISHGUARD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810300" y="3009900"/>
            <a:ext cx="657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Phishing URL Deobfuscator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361950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838875" y="4000500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Hybrid Machine Learning 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97330" y="5276010"/>
            <a:ext cx="649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Saurabh Krishnan</a:t>
            </a:r>
          </a:p>
          <a:p>
            <a:pPr algn="ctr">
              <a:lnSpc>
                <a:spcPct val="120000"/>
              </a:lnSpc>
            </a:pPr>
            <a:endParaRPr lang="en-US" sz="1500" dirty="0">
              <a:solidFill>
                <a:srgbClr val="000000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23461" y="5980890"/>
            <a:ext cx="648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Course Project Presentation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214" y="408214"/>
            <a:ext cx="11379654" cy="1083129"/>
          </a:xfrm>
          <a:custGeom>
            <a:avLst/>
            <a:gdLst/>
            <a:ahLst/>
            <a:cxnLst/>
            <a:rect l="l" t="t" r="r" b="b"/>
            <a:pathLst>
              <a:path w="11379654" h="1083129">
                <a:moveTo>
                  <a:pt x="0" y="0"/>
                </a:moveTo>
                <a:lnTo>
                  <a:pt x="11379654" y="0"/>
                </a:lnTo>
                <a:lnTo>
                  <a:pt x="11379654" y="1083129"/>
                </a:lnTo>
                <a:lnTo>
                  <a:pt x="0" y="1083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7829" y="587828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PHISHING THREAT LANDSCAPE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7829" y="1045029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Scale &amp; Financial Impact 2024-2025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8214" y="1698171"/>
            <a:ext cx="5588454" cy="1911804"/>
          </a:xfrm>
          <a:custGeom>
            <a:avLst/>
            <a:gdLst/>
            <a:ahLst/>
            <a:cxnLst/>
            <a:rect l="l" t="t" r="r" b="b"/>
            <a:pathLst>
              <a:path w="5588454" h="1911804">
                <a:moveTo>
                  <a:pt x="0" y="0"/>
                </a:moveTo>
                <a:lnTo>
                  <a:pt x="5588454" y="0"/>
                </a:lnTo>
                <a:lnTo>
                  <a:pt x="5588454" y="1911804"/>
                </a:lnTo>
                <a:lnTo>
                  <a:pt x="0" y="19118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87829" y="1877785"/>
            <a:ext cx="5457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989,123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7829" y="2411186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Phishing Attacks in Q4 2024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7829" y="2754086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Increase of 100,000+ from previous quarter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8214" y="3818164"/>
            <a:ext cx="5588454" cy="1911804"/>
          </a:xfrm>
          <a:custGeom>
            <a:avLst/>
            <a:gdLst/>
            <a:ahLst/>
            <a:cxnLst/>
            <a:rect l="l" t="t" r="r" b="b"/>
            <a:pathLst>
              <a:path w="5588454" h="1911804">
                <a:moveTo>
                  <a:pt x="0" y="0"/>
                </a:moveTo>
                <a:lnTo>
                  <a:pt x="5588454" y="0"/>
                </a:lnTo>
                <a:lnTo>
                  <a:pt x="5588454" y="1911804"/>
                </a:lnTo>
                <a:lnTo>
                  <a:pt x="0" y="19118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87829" y="3997779"/>
            <a:ext cx="5457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$4.88M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7829" y="4531179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Average Breach Cost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7829" y="4874079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Third costliest initial threat vector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9414" y="1698171"/>
            <a:ext cx="5588454" cy="1911804"/>
          </a:xfrm>
          <a:custGeom>
            <a:avLst/>
            <a:gdLst/>
            <a:ahLst/>
            <a:cxnLst/>
            <a:rect l="l" t="t" r="r" b="b"/>
            <a:pathLst>
              <a:path w="5588454" h="1911804">
                <a:moveTo>
                  <a:pt x="0" y="0"/>
                </a:moveTo>
                <a:lnTo>
                  <a:pt x="5588454" y="0"/>
                </a:lnTo>
                <a:lnTo>
                  <a:pt x="5588454" y="1911804"/>
                </a:lnTo>
                <a:lnTo>
                  <a:pt x="0" y="19118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79029" y="1877785"/>
            <a:ext cx="5457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3.4B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79029" y="2411186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Phishing Emails Daily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79029" y="2754086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16% of all data breaches initiated via phishing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9414" y="3818164"/>
            <a:ext cx="5588454" cy="1911804"/>
          </a:xfrm>
          <a:custGeom>
            <a:avLst/>
            <a:gdLst/>
            <a:ahLst/>
            <a:cxnLst/>
            <a:rect l="l" t="t" r="r" b="b"/>
            <a:pathLst>
              <a:path w="5588454" h="1911804">
                <a:moveTo>
                  <a:pt x="0" y="0"/>
                </a:moveTo>
                <a:lnTo>
                  <a:pt x="5588454" y="0"/>
                </a:lnTo>
                <a:lnTo>
                  <a:pt x="5588454" y="1911804"/>
                </a:lnTo>
                <a:lnTo>
                  <a:pt x="0" y="19118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79029" y="3997779"/>
            <a:ext cx="5400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Weaponization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9029" y="4454979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1,265% Surge in Phishing Volume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79029" y="4797879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AI-generated emails: 54% click rate vs 12% human-written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8214" y="5938158"/>
            <a:ext cx="11379654" cy="511629"/>
          </a:xfrm>
          <a:custGeom>
            <a:avLst/>
            <a:gdLst/>
            <a:ahLst/>
            <a:cxnLst/>
            <a:rect l="l" t="t" r="r" b="b"/>
            <a:pathLst>
              <a:path w="11379654" h="511629">
                <a:moveTo>
                  <a:pt x="0" y="0"/>
                </a:moveTo>
                <a:lnTo>
                  <a:pt x="11379654" y="0"/>
                </a:lnTo>
                <a:lnTo>
                  <a:pt x="11379654" y="511629"/>
                </a:lnTo>
                <a:lnTo>
                  <a:pt x="0" y="511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9729" y="6079671"/>
            <a:ext cx="1117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Voice phishing (vishing) surged 442% in 2024 ▶ Microsoft impersonated in 51.7% of scams ▶ Phishing-as-a-Service platforms commoditizing attacks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214" y="408214"/>
            <a:ext cx="11379654" cy="1083129"/>
          </a:xfrm>
          <a:custGeom>
            <a:avLst/>
            <a:gdLst/>
            <a:ahLst/>
            <a:cxnLst/>
            <a:rect l="l" t="t" r="r" b="b"/>
            <a:pathLst>
              <a:path w="11379654" h="1083129">
                <a:moveTo>
                  <a:pt x="0" y="0"/>
                </a:moveTo>
                <a:lnTo>
                  <a:pt x="11379654" y="0"/>
                </a:lnTo>
                <a:lnTo>
                  <a:pt x="11379654" y="1083129"/>
                </a:lnTo>
                <a:lnTo>
                  <a:pt x="0" y="1083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7829" y="587828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7829" y="1045028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Challenge &amp; Project Objective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8214" y="1698170"/>
            <a:ext cx="11379654" cy="1416504"/>
          </a:xfrm>
          <a:custGeom>
            <a:avLst/>
            <a:gdLst/>
            <a:ahLst/>
            <a:cxnLst/>
            <a:rect l="l" t="t" r="r" b="b"/>
            <a:pathLst>
              <a:path w="11379654" h="1416504">
                <a:moveTo>
                  <a:pt x="0" y="0"/>
                </a:moveTo>
                <a:lnTo>
                  <a:pt x="11379654" y="0"/>
                </a:lnTo>
                <a:lnTo>
                  <a:pt x="11379654" y="1416504"/>
                </a:lnTo>
                <a:lnTo>
                  <a:pt x="0" y="14165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5929" y="1915885"/>
            <a:ext cx="11058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PROBLEM 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5929" y="2334985"/>
            <a:ext cx="110299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Malicious actors </a:t>
            </a: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obfuscate URLs</a:t>
            </a: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using structural manipulation (character insertion, subdomain nesting, encoding) and </a:t>
            </a: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brand typosquatting</a:t>
            </a: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bypass standard security filters. Traditional blacklist approaches fail against zero-day phishing URLs.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8214" y="3316740"/>
            <a:ext cx="5588454" cy="2759529"/>
          </a:xfrm>
          <a:custGeom>
            <a:avLst/>
            <a:gdLst/>
            <a:ahLst/>
            <a:cxnLst/>
            <a:rect l="l" t="t" r="r" b="b"/>
            <a:pathLst>
              <a:path w="5588454" h="2759529">
                <a:moveTo>
                  <a:pt x="0" y="0"/>
                </a:moveTo>
                <a:lnTo>
                  <a:pt x="5588454" y="0"/>
                </a:lnTo>
                <a:lnTo>
                  <a:pt x="5588454" y="2759529"/>
                </a:lnTo>
                <a:lnTo>
                  <a:pt x="0" y="27595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5929" y="3534455"/>
            <a:ext cx="526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ML TASK TYPE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5929" y="3953555"/>
            <a:ext cx="5438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Binary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5929" y="4639355"/>
            <a:ext cx="5438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5929" y="5325155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Label 0: Phishing/Obfuscated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5929" y="5591855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Label 1: Legitimate/Safe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9414" y="3316740"/>
            <a:ext cx="5588454" cy="2759529"/>
          </a:xfrm>
          <a:custGeom>
            <a:avLst/>
            <a:gdLst/>
            <a:ahLst/>
            <a:cxnLst/>
            <a:rect l="l" t="t" r="r" b="b"/>
            <a:pathLst>
              <a:path w="5588454" h="2759529">
                <a:moveTo>
                  <a:pt x="0" y="0"/>
                </a:moveTo>
                <a:lnTo>
                  <a:pt x="5588454" y="0"/>
                </a:lnTo>
                <a:lnTo>
                  <a:pt x="5588454" y="2759529"/>
                </a:lnTo>
                <a:lnTo>
                  <a:pt x="0" y="27595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17129" y="3534455"/>
            <a:ext cx="526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PROJECT OBJECTIVE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7129" y="3953555"/>
            <a:ext cx="52387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 a </a:t>
            </a: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real-time, defense-in-depth URL analysis tool</a:t>
            </a: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that combines: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17129" y="4625068"/>
            <a:ext cx="522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Structural Machine Learning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7129" y="4891768"/>
            <a:ext cx="522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Lexical Heuristic Rules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7129" y="5158468"/>
            <a:ext cx="522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High Precision &amp; Recall Detection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214" y="408214"/>
            <a:ext cx="11379654" cy="1083129"/>
          </a:xfrm>
          <a:custGeom>
            <a:avLst/>
            <a:gdLst/>
            <a:ahLst/>
            <a:cxnLst/>
            <a:rect l="l" t="t" r="r" b="b"/>
            <a:pathLst>
              <a:path w="11379654" h="1083129">
                <a:moveTo>
                  <a:pt x="0" y="0"/>
                </a:moveTo>
                <a:lnTo>
                  <a:pt x="11379654" y="0"/>
                </a:lnTo>
                <a:lnTo>
                  <a:pt x="11379654" y="1083129"/>
                </a:lnTo>
                <a:lnTo>
                  <a:pt x="0" y="1083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7829" y="587829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LITERATURE REVIEW &amp; RELATED 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7829" y="1045029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Survey of Phishing Detection Approaches (2024-2025)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8214" y="1698173"/>
            <a:ext cx="5588454" cy="2273754"/>
          </a:xfrm>
          <a:custGeom>
            <a:avLst/>
            <a:gdLst/>
            <a:ahLst/>
            <a:cxnLst/>
            <a:rect l="l" t="t" r="r" b="b"/>
            <a:pathLst>
              <a:path w="5588454" h="2273754">
                <a:moveTo>
                  <a:pt x="0" y="0"/>
                </a:moveTo>
                <a:lnTo>
                  <a:pt x="5588454" y="0"/>
                </a:lnTo>
                <a:lnTo>
                  <a:pt x="5588454" y="2273754"/>
                </a:lnTo>
                <a:lnTo>
                  <a:pt x="0" y="22737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87829" y="1877788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RANDOM FOREST PERFORMANCE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7829" y="2296888"/>
            <a:ext cx="5457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94.36% - 99.99%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7829" y="28302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Most frequently employed classifier in phishing detection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829" y="30588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Excels at non-linear pattern recognition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7829" y="32874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Robust to overfitting with ensemble approach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8214" y="4177394"/>
            <a:ext cx="5588454" cy="2273754"/>
          </a:xfrm>
          <a:custGeom>
            <a:avLst/>
            <a:gdLst/>
            <a:ahLst/>
            <a:cxnLst/>
            <a:rect l="l" t="t" r="r" b="b"/>
            <a:pathLst>
              <a:path w="5588454" h="2273754">
                <a:moveTo>
                  <a:pt x="0" y="0"/>
                </a:moveTo>
                <a:lnTo>
                  <a:pt x="5588454" y="0"/>
                </a:lnTo>
                <a:lnTo>
                  <a:pt x="5588454" y="2273754"/>
                </a:lnTo>
                <a:lnTo>
                  <a:pt x="0" y="22737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87829" y="4357008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HYBRID APPROACHES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7829" y="4776108"/>
            <a:ext cx="5400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95%+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7829" y="5233308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Average Accuracy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7829" y="557620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Heuristic-ML frameworks outperform pure ML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7829" y="580480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Voting classifiers achieve 99.87% accuracy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9414" y="1698173"/>
            <a:ext cx="5588454" cy="2416629"/>
          </a:xfrm>
          <a:custGeom>
            <a:avLst/>
            <a:gdLst/>
            <a:ahLst/>
            <a:cxnLst/>
            <a:rect l="l" t="t" r="r" b="b"/>
            <a:pathLst>
              <a:path w="5588454" h="2416629">
                <a:moveTo>
                  <a:pt x="0" y="0"/>
                </a:moveTo>
                <a:lnTo>
                  <a:pt x="5588454" y="0"/>
                </a:lnTo>
                <a:lnTo>
                  <a:pt x="5588454" y="2416629"/>
                </a:lnTo>
                <a:lnTo>
                  <a:pt x="0" y="24166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79029" y="1877788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LEXICAL FEATURE INSIGHTS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9029" y="2296888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Strongest Predictive Features: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79029" y="26397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URL Length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9029" y="29064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Subdomain Count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79029" y="31731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Special Character Ratios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79029" y="34398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HTTPS Status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79029" y="37065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Domain Age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9414" y="4321629"/>
            <a:ext cx="5588454" cy="2130879"/>
          </a:xfrm>
          <a:custGeom>
            <a:avLst/>
            <a:gdLst/>
            <a:ahLst/>
            <a:cxnLst/>
            <a:rect l="l" t="t" r="r" b="b"/>
            <a:pathLst>
              <a:path w="5588454" h="2130879">
                <a:moveTo>
                  <a:pt x="0" y="0"/>
                </a:moveTo>
                <a:lnTo>
                  <a:pt x="5588454" y="0"/>
                </a:lnTo>
                <a:lnTo>
                  <a:pt x="5588454" y="2130879"/>
                </a:lnTo>
                <a:lnTo>
                  <a:pt x="0" y="21308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79029" y="4501244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COMPARATIVE ANALYSIS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79029" y="4920344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SVM: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97.1%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29701" y="4920344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 Tree: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94.5%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79029" y="5225144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Gradient Boosting: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98.0%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29701" y="5225144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99.2%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79029" y="5529944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Ensemble methods consistently superior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214" y="408214"/>
            <a:ext cx="11379654" cy="1083129"/>
          </a:xfrm>
          <a:custGeom>
            <a:avLst/>
            <a:gdLst/>
            <a:ahLst/>
            <a:cxnLst/>
            <a:rect l="l" t="t" r="r" b="b"/>
            <a:pathLst>
              <a:path w="11379654" h="1083129">
                <a:moveTo>
                  <a:pt x="0" y="0"/>
                </a:moveTo>
                <a:lnTo>
                  <a:pt x="11379654" y="0"/>
                </a:lnTo>
                <a:lnTo>
                  <a:pt x="11379654" y="1083129"/>
                </a:lnTo>
                <a:lnTo>
                  <a:pt x="0" y="1083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7829" y="587827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WORKFLOW &amp; METHODOLOGY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7829" y="1045027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 ML Pipeline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8214" y="1698170"/>
            <a:ext cx="11379654" cy="4035879"/>
          </a:xfrm>
          <a:custGeom>
            <a:avLst/>
            <a:gdLst/>
            <a:ahLst/>
            <a:cxnLst/>
            <a:rect l="l" t="t" r="r" b="b"/>
            <a:pathLst>
              <a:path w="11379654" h="4035879">
                <a:moveTo>
                  <a:pt x="0" y="0"/>
                </a:moveTo>
                <a:lnTo>
                  <a:pt x="11379654" y="0"/>
                </a:lnTo>
                <a:lnTo>
                  <a:pt x="11379654" y="4035879"/>
                </a:lnTo>
                <a:lnTo>
                  <a:pt x="0" y="40358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91243" y="1981200"/>
            <a:ext cx="2578554" cy="1645104"/>
          </a:xfrm>
          <a:custGeom>
            <a:avLst/>
            <a:gdLst/>
            <a:ahLst/>
            <a:cxnLst/>
            <a:rect l="l" t="t" r="r" b="b"/>
            <a:pathLst>
              <a:path w="2578554" h="1645104">
                <a:moveTo>
                  <a:pt x="0" y="0"/>
                </a:moveTo>
                <a:lnTo>
                  <a:pt x="2578554" y="0"/>
                </a:lnTo>
                <a:lnTo>
                  <a:pt x="2578554" y="1645104"/>
                </a:lnTo>
                <a:lnTo>
                  <a:pt x="0" y="16451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32757" y="2462892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757" y="2881992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 Definition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1243" y="3799114"/>
            <a:ext cx="2578554" cy="1645104"/>
          </a:xfrm>
          <a:custGeom>
            <a:avLst/>
            <a:gdLst/>
            <a:ahLst/>
            <a:cxnLst/>
            <a:rect l="l" t="t" r="r" b="b"/>
            <a:pathLst>
              <a:path w="2578554" h="1645104">
                <a:moveTo>
                  <a:pt x="0" y="0"/>
                </a:moveTo>
                <a:lnTo>
                  <a:pt x="2578554" y="0"/>
                </a:lnTo>
                <a:lnTo>
                  <a:pt x="2578554" y="1645104"/>
                </a:lnTo>
                <a:lnTo>
                  <a:pt x="0" y="16451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32757" y="4166506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2757" y="4585606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757" y="4852306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PhiUSIIL Dataset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35804" y="1981200"/>
            <a:ext cx="2578554" cy="1645104"/>
          </a:xfrm>
          <a:custGeom>
            <a:avLst/>
            <a:gdLst/>
            <a:ahLst/>
            <a:cxnLst/>
            <a:rect l="l" t="t" r="r" b="b"/>
            <a:pathLst>
              <a:path w="2578554" h="1645104">
                <a:moveTo>
                  <a:pt x="0" y="0"/>
                </a:moveTo>
                <a:lnTo>
                  <a:pt x="2578554" y="0"/>
                </a:lnTo>
                <a:lnTo>
                  <a:pt x="2578554" y="1645104"/>
                </a:lnTo>
                <a:lnTo>
                  <a:pt x="0" y="16451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77318" y="2348592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77318" y="2767692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77318" y="3034392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35804" y="3799114"/>
            <a:ext cx="2578554" cy="1645104"/>
          </a:xfrm>
          <a:custGeom>
            <a:avLst/>
            <a:gdLst/>
            <a:ahLst/>
            <a:cxnLst/>
            <a:rect l="l" t="t" r="r" b="b"/>
            <a:pathLst>
              <a:path w="2578554" h="1645104">
                <a:moveTo>
                  <a:pt x="0" y="0"/>
                </a:moveTo>
                <a:lnTo>
                  <a:pt x="2578554" y="0"/>
                </a:lnTo>
                <a:lnTo>
                  <a:pt x="2578554" y="1645104"/>
                </a:lnTo>
                <a:lnTo>
                  <a:pt x="0" y="16451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577318" y="4166506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77318" y="4585606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77318" y="4852306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URL Structural Metrics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80364" y="1981200"/>
            <a:ext cx="2578554" cy="1645104"/>
          </a:xfrm>
          <a:custGeom>
            <a:avLst/>
            <a:gdLst/>
            <a:ahLst/>
            <a:cxnLst/>
            <a:rect l="l" t="t" r="r" b="b"/>
            <a:pathLst>
              <a:path w="2578554" h="1645104">
                <a:moveTo>
                  <a:pt x="0" y="0"/>
                </a:moveTo>
                <a:lnTo>
                  <a:pt x="2578554" y="0"/>
                </a:lnTo>
                <a:lnTo>
                  <a:pt x="2578554" y="1645104"/>
                </a:lnTo>
                <a:lnTo>
                  <a:pt x="0" y="16451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21879" y="2348592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21879" y="2767692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Selection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1879" y="3034392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 RF + Regex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80364" y="3799114"/>
            <a:ext cx="2578554" cy="1645104"/>
          </a:xfrm>
          <a:custGeom>
            <a:avLst/>
            <a:gdLst/>
            <a:ahLst/>
            <a:cxnLst/>
            <a:rect l="l" t="t" r="r" b="b"/>
            <a:pathLst>
              <a:path w="2578554" h="1645104">
                <a:moveTo>
                  <a:pt x="0" y="0"/>
                </a:moveTo>
                <a:lnTo>
                  <a:pt x="2578554" y="0"/>
                </a:lnTo>
                <a:lnTo>
                  <a:pt x="2578554" y="1645104"/>
                </a:lnTo>
                <a:lnTo>
                  <a:pt x="0" y="16451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21879" y="4166506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21879" y="4585606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21879" y="4852306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80/20 Split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24925" y="1981200"/>
            <a:ext cx="2578554" cy="1645104"/>
          </a:xfrm>
          <a:custGeom>
            <a:avLst/>
            <a:gdLst/>
            <a:ahLst/>
            <a:cxnLst/>
            <a:rect l="l" t="t" r="r" b="b"/>
            <a:pathLst>
              <a:path w="2578554" h="1645104">
                <a:moveTo>
                  <a:pt x="0" y="0"/>
                </a:moveTo>
                <a:lnTo>
                  <a:pt x="2578554" y="0"/>
                </a:lnTo>
                <a:lnTo>
                  <a:pt x="2578554" y="1645104"/>
                </a:lnTo>
                <a:lnTo>
                  <a:pt x="0" y="16451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066440" y="2348592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66440" y="2767692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66440" y="3034392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Accuracy, P, R, F1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924925" y="3799114"/>
            <a:ext cx="2578554" cy="1645104"/>
          </a:xfrm>
          <a:custGeom>
            <a:avLst/>
            <a:gdLst/>
            <a:ahLst/>
            <a:cxnLst/>
            <a:rect l="l" t="t" r="r" b="b"/>
            <a:pathLst>
              <a:path w="2578554" h="1645104">
                <a:moveTo>
                  <a:pt x="0" y="0"/>
                </a:moveTo>
                <a:lnTo>
                  <a:pt x="2578554" y="0"/>
                </a:lnTo>
                <a:lnTo>
                  <a:pt x="2578554" y="1645104"/>
                </a:lnTo>
                <a:lnTo>
                  <a:pt x="0" y="16451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066440" y="4166506"/>
            <a:ext cx="243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66440" y="4585606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66440" y="4852306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8214" y="5938156"/>
            <a:ext cx="11379654" cy="511629"/>
          </a:xfrm>
          <a:custGeom>
            <a:avLst/>
            <a:gdLst/>
            <a:ahLst/>
            <a:cxnLst/>
            <a:rect l="l" t="t" r="r" b="b"/>
            <a:pathLst>
              <a:path w="11379654" h="511629">
                <a:moveTo>
                  <a:pt x="0" y="0"/>
                </a:moveTo>
                <a:lnTo>
                  <a:pt x="11379654" y="0"/>
                </a:lnTo>
                <a:lnTo>
                  <a:pt x="11379654" y="511629"/>
                </a:lnTo>
                <a:lnTo>
                  <a:pt x="0" y="511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11629" y="6079671"/>
            <a:ext cx="1117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Defense-in-Depth Pipeline: Structural ML + Heuristic Rules + Whitelist Optimization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214" y="408214"/>
            <a:ext cx="11379654" cy="1083129"/>
          </a:xfrm>
          <a:custGeom>
            <a:avLst/>
            <a:gdLst/>
            <a:ahLst/>
            <a:cxnLst/>
            <a:rect l="l" t="t" r="r" b="b"/>
            <a:pathLst>
              <a:path w="11379654" h="1083129">
                <a:moveTo>
                  <a:pt x="0" y="0"/>
                </a:moveTo>
                <a:lnTo>
                  <a:pt x="11379654" y="0"/>
                </a:lnTo>
                <a:lnTo>
                  <a:pt x="11379654" y="1083129"/>
                </a:lnTo>
                <a:lnTo>
                  <a:pt x="0" y="1083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7829" y="587827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DATASET DESCRIPTION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7829" y="1045027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PhiUSIIL Phishing URL Dataset Specifications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8214" y="1698170"/>
            <a:ext cx="3654879" cy="3388179"/>
          </a:xfrm>
          <a:custGeom>
            <a:avLst/>
            <a:gdLst/>
            <a:ahLst/>
            <a:cxnLst/>
            <a:rect l="l" t="t" r="r" b="b"/>
            <a:pathLst>
              <a:path w="3654879" h="3388179">
                <a:moveTo>
                  <a:pt x="0" y="0"/>
                </a:moveTo>
                <a:lnTo>
                  <a:pt x="3654879" y="0"/>
                </a:lnTo>
                <a:lnTo>
                  <a:pt x="3654879" y="3388179"/>
                </a:lnTo>
                <a:lnTo>
                  <a:pt x="0" y="33881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5929" y="2305050"/>
            <a:ext cx="3505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235K+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5929" y="2990848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Analyzed URLs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5929" y="3409948"/>
            <a:ext cx="330517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Large-scale dataset enabling robust model training and validation with sufficient statistical power for reliable performance estimates.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68986" y="1698170"/>
            <a:ext cx="3654879" cy="3388179"/>
          </a:xfrm>
          <a:custGeom>
            <a:avLst/>
            <a:gdLst/>
            <a:ahLst/>
            <a:cxnLst/>
            <a:rect l="l" t="t" r="r" b="b"/>
            <a:pathLst>
              <a:path w="3654879" h="3388179">
                <a:moveTo>
                  <a:pt x="0" y="0"/>
                </a:moveTo>
                <a:lnTo>
                  <a:pt x="3654879" y="0"/>
                </a:lnTo>
                <a:lnTo>
                  <a:pt x="3654879" y="3388179"/>
                </a:lnTo>
                <a:lnTo>
                  <a:pt x="0" y="33881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86701" y="2305050"/>
            <a:ext cx="3505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6701" y="2990848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Robust Features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6701" y="3409948"/>
            <a:ext cx="330517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Highly extractable lexical features requiring no external API calls - suitable for real-time browser integration and edge deployment.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9758" y="1698170"/>
            <a:ext cx="3654879" cy="3388179"/>
          </a:xfrm>
          <a:custGeom>
            <a:avLst/>
            <a:gdLst/>
            <a:ahLst/>
            <a:cxnLst/>
            <a:rect l="l" t="t" r="r" b="b"/>
            <a:pathLst>
              <a:path w="3654879" h="3388179">
                <a:moveTo>
                  <a:pt x="0" y="0"/>
                </a:moveTo>
                <a:lnTo>
                  <a:pt x="3654879" y="0"/>
                </a:lnTo>
                <a:lnTo>
                  <a:pt x="3654879" y="3388179"/>
                </a:lnTo>
                <a:lnTo>
                  <a:pt x="0" y="33881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347472" y="2495550"/>
            <a:ext cx="3448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Balanced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47472" y="3067048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Distribution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7472" y="3486148"/>
            <a:ext cx="33051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Equal representation of phishing (Label 0) and legitimate (Label 1) URLs prevents class imbalance bias in model predictions.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8214" y="5290458"/>
            <a:ext cx="11379654" cy="1159329"/>
          </a:xfrm>
          <a:custGeom>
            <a:avLst/>
            <a:gdLst/>
            <a:ahLst/>
            <a:cxnLst/>
            <a:rect l="l" t="t" r="r" b="b"/>
            <a:pathLst>
              <a:path w="11379654" h="1159329">
                <a:moveTo>
                  <a:pt x="0" y="0"/>
                </a:moveTo>
                <a:lnTo>
                  <a:pt x="11379654" y="0"/>
                </a:lnTo>
                <a:lnTo>
                  <a:pt x="11379654" y="1159329"/>
                </a:lnTo>
                <a:lnTo>
                  <a:pt x="0" y="11593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7829" y="5470073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WHY PHIUSIIL?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7829" y="5812973"/>
            <a:ext cx="11096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Recent URLs (2023-2024) capturing current attack patterns ▶ Diverse obfuscation techniques represented ▶ Publicly available for reproducibility ▶ Suitable for real-time feature extraction without external dependencies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214" y="408214"/>
            <a:ext cx="11379654" cy="1083129"/>
          </a:xfrm>
          <a:custGeom>
            <a:avLst/>
            <a:gdLst/>
            <a:ahLst/>
            <a:cxnLst/>
            <a:rect l="l" t="t" r="r" b="b"/>
            <a:pathLst>
              <a:path w="11379654" h="1083129">
                <a:moveTo>
                  <a:pt x="0" y="0"/>
                </a:moveTo>
                <a:lnTo>
                  <a:pt x="11379654" y="0"/>
                </a:lnTo>
                <a:lnTo>
                  <a:pt x="11379654" y="1083129"/>
                </a:lnTo>
                <a:lnTo>
                  <a:pt x="0" y="1083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7829" y="587829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PREPROCESSING &amp; FEATURE ENGINEERING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7829" y="1045029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Transformation Pipeline &amp; Feature 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8214" y="1698173"/>
            <a:ext cx="5588454" cy="2273754"/>
          </a:xfrm>
          <a:custGeom>
            <a:avLst/>
            <a:gdLst/>
            <a:ahLst/>
            <a:cxnLst/>
            <a:rect l="l" t="t" r="r" b="b"/>
            <a:pathLst>
              <a:path w="5588454" h="2273754">
                <a:moveTo>
                  <a:pt x="0" y="0"/>
                </a:moveTo>
                <a:lnTo>
                  <a:pt x="5588454" y="0"/>
                </a:lnTo>
                <a:lnTo>
                  <a:pt x="5588454" y="2273754"/>
                </a:lnTo>
                <a:lnTo>
                  <a:pt x="0" y="22737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87829" y="1877788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PREPROCESSING STEPS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7829" y="2296888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Missing Value Handling: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Zero-filling for structural features maintains integer consistency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7829" y="28302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URL Parsing: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urllib.parse extracts domain names, paths, query parameters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829" y="31350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Boolean Encoding: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HasHttps, IsDomainIP → binary 1/0 format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7829" y="34398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Normalization: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Feature scaling for optimal ML performance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8214" y="4177394"/>
            <a:ext cx="5588454" cy="2273754"/>
          </a:xfrm>
          <a:custGeom>
            <a:avLst/>
            <a:gdLst/>
            <a:ahLst/>
            <a:cxnLst/>
            <a:rect l="l" t="t" r="r" b="b"/>
            <a:pathLst>
              <a:path w="5588454" h="2273754">
                <a:moveTo>
                  <a:pt x="0" y="0"/>
                </a:moveTo>
                <a:lnTo>
                  <a:pt x="5588454" y="0"/>
                </a:lnTo>
                <a:lnTo>
                  <a:pt x="5588454" y="2273754"/>
                </a:lnTo>
                <a:lnTo>
                  <a:pt x="0" y="22737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87829" y="4357008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ENGINEERED FEATURES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7829" y="4776108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URLLength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76600" y="4776108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DomainLength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7829" y="5042808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TLDLength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76600" y="5042808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SubdomainDepth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7829" y="5309508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SpecialCharRatio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76600" y="5309508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HasHttps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7829" y="5576208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IsDomainIP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76600" y="5576208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NumDigits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7829" y="5842908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HasSuspiciousWords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76600" y="5842908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PathLength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9414" y="1698173"/>
            <a:ext cx="5588454" cy="4750254"/>
          </a:xfrm>
          <a:custGeom>
            <a:avLst/>
            <a:gdLst/>
            <a:ahLst/>
            <a:cxnLst/>
            <a:rect l="l" t="t" r="r" b="b"/>
            <a:pathLst>
              <a:path w="5588454" h="4750254">
                <a:moveTo>
                  <a:pt x="0" y="0"/>
                </a:moveTo>
                <a:lnTo>
                  <a:pt x="5588454" y="0"/>
                </a:lnTo>
                <a:lnTo>
                  <a:pt x="5588454" y="4750254"/>
                </a:lnTo>
                <a:lnTo>
                  <a:pt x="0" y="47502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79029" y="1877788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FEATURE EXTRACTION LOGIC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79029" y="2296888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TLD Length: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Extracted from parsed domain, suspicious TLDs (.tk, .ml) often used in phishing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79029" y="2868388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Subdomain Depth: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Count of dots in hostname, excessive nesting indicates obfuscation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79029" y="3439888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Special Char Ratio: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Proportion of non-alphanumeric characters, high ratios suggest encoding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79029" y="4011388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IsDomainIP: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Boolean check if hostname matches IP pattern (rare in legitimate sites)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79029" y="4582888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Suspicious Words: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Regex matching for keywords: login, secure, account, banking, confirm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214" y="408214"/>
            <a:ext cx="11379654" cy="1083129"/>
          </a:xfrm>
          <a:custGeom>
            <a:avLst/>
            <a:gdLst/>
            <a:ahLst/>
            <a:cxnLst/>
            <a:rect l="l" t="t" r="r" b="b"/>
            <a:pathLst>
              <a:path w="11379654" h="1083129">
                <a:moveTo>
                  <a:pt x="0" y="0"/>
                </a:moveTo>
                <a:lnTo>
                  <a:pt x="11379654" y="0"/>
                </a:lnTo>
                <a:lnTo>
                  <a:pt x="11379654" y="1083129"/>
                </a:lnTo>
                <a:lnTo>
                  <a:pt x="0" y="1083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7829" y="587829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EXPLORATORY DATA ANALYSIS (EDA)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7829" y="1045029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Patterns &amp; Class Distribution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8214" y="1698173"/>
            <a:ext cx="5588454" cy="2378529"/>
          </a:xfrm>
          <a:custGeom>
            <a:avLst/>
            <a:gdLst/>
            <a:ahLst/>
            <a:cxnLst/>
            <a:rect l="l" t="t" r="r" b="b"/>
            <a:pathLst>
              <a:path w="5588454" h="2378529">
                <a:moveTo>
                  <a:pt x="0" y="0"/>
                </a:moveTo>
                <a:lnTo>
                  <a:pt x="5588454" y="0"/>
                </a:lnTo>
                <a:lnTo>
                  <a:pt x="5588454" y="2378529"/>
                </a:lnTo>
                <a:lnTo>
                  <a:pt x="0" y="23785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87829" y="1877788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KEY PATTERNS DISCOVERED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7829" y="2296888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Higher Character Counts: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Phishing URLs average 85+ characters vs 45 for legitimate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7829" y="28302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Numerical Insertions: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3.2x more digits in obfuscated URLs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829" y="31350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Subdomain Nesting: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Average depth of 4.1 vs 1.8 for legitimate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7829" y="3439888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 Adoption: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Only 34% of phishing URLs use HTTPS vs 89% legitimate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8214" y="4283531"/>
            <a:ext cx="5588454" cy="2416629"/>
          </a:xfrm>
          <a:custGeom>
            <a:avLst/>
            <a:gdLst/>
            <a:ahLst/>
            <a:cxnLst/>
            <a:rect l="l" t="t" r="r" b="b"/>
            <a:pathLst>
              <a:path w="5588454" h="2416629">
                <a:moveTo>
                  <a:pt x="0" y="0"/>
                </a:moveTo>
                <a:lnTo>
                  <a:pt x="5588454" y="0"/>
                </a:lnTo>
                <a:lnTo>
                  <a:pt x="5588454" y="2416629"/>
                </a:lnTo>
                <a:lnTo>
                  <a:pt x="0" y="24166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87829" y="4463146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CLASS DISTRIBUTION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7829" y="4882246"/>
            <a:ext cx="5457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57.2% / 42.8%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7829" y="5415646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Almost Perfectly Balanced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7829" y="5758546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134,850 Phishing URLs (Label 0)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7829" y="5987146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100,945 Legitimate URLs (Label 1)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7829" y="6291946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Prevents model bias toward majority class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9414" y="1698173"/>
            <a:ext cx="5588454" cy="4997904"/>
          </a:xfrm>
          <a:custGeom>
            <a:avLst/>
            <a:gdLst/>
            <a:ahLst/>
            <a:cxnLst/>
            <a:rect l="l" t="t" r="r" b="b"/>
            <a:pathLst>
              <a:path w="5588454" h="4997904">
                <a:moveTo>
                  <a:pt x="0" y="0"/>
                </a:moveTo>
                <a:lnTo>
                  <a:pt x="5588454" y="0"/>
                </a:lnTo>
                <a:lnTo>
                  <a:pt x="5588454" y="4997904"/>
                </a:lnTo>
                <a:lnTo>
                  <a:pt x="0" y="49979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79029" y="1877788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FEATURE CORRELATION ANALYSIS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79029" y="22968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Strongest correlations with phishing label: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9029" y="26397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URLLength (r = 0.72)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79029" y="29064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SpecialCharRatio (r = 0.68)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79029" y="31731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IsDomainIP (r = 0.61)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79029" y="34398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SubdomainDepth (r = 0.54)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79029" y="370658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HasHttps (r = -0.48)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6243" y="4191002"/>
            <a:ext cx="5169354" cy="740229"/>
          </a:xfrm>
          <a:custGeom>
            <a:avLst/>
            <a:gdLst/>
            <a:ahLst/>
            <a:cxnLst/>
            <a:rect l="l" t="t" r="r" b="b"/>
            <a:pathLst>
              <a:path w="5169354" h="740229">
                <a:moveTo>
                  <a:pt x="0" y="0"/>
                </a:moveTo>
                <a:lnTo>
                  <a:pt x="5169354" y="0"/>
                </a:lnTo>
                <a:lnTo>
                  <a:pt x="5169354" y="740229"/>
                </a:lnTo>
                <a:lnTo>
                  <a:pt x="0" y="74022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79029" y="4163788"/>
            <a:ext cx="5191125" cy="6858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Insight: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Structural anomalies are highly predictive of phishing intent, validating the lexical feature approach.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214" y="408214"/>
            <a:ext cx="11379654" cy="1083129"/>
          </a:xfrm>
          <a:custGeom>
            <a:avLst/>
            <a:gdLst/>
            <a:ahLst/>
            <a:cxnLst/>
            <a:rect l="l" t="t" r="r" b="b"/>
            <a:pathLst>
              <a:path w="11379654" h="1083129">
                <a:moveTo>
                  <a:pt x="0" y="0"/>
                </a:moveTo>
                <a:lnTo>
                  <a:pt x="11379654" y="0"/>
                </a:lnTo>
                <a:lnTo>
                  <a:pt x="11379654" y="1083129"/>
                </a:lnTo>
                <a:lnTo>
                  <a:pt x="0" y="1083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7829" y="587825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ALGORITHM SELECTION &amp; JUSTIFICATION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7829" y="1045025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 System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8214" y="1698168"/>
            <a:ext cx="5588454" cy="2378529"/>
          </a:xfrm>
          <a:custGeom>
            <a:avLst/>
            <a:gdLst/>
            <a:ahLst/>
            <a:cxnLst/>
            <a:rect l="l" t="t" r="r" b="b"/>
            <a:pathLst>
              <a:path w="5588454" h="2378529">
                <a:moveTo>
                  <a:pt x="0" y="0"/>
                </a:moveTo>
                <a:lnTo>
                  <a:pt x="5588454" y="0"/>
                </a:lnTo>
                <a:lnTo>
                  <a:pt x="5588454" y="2378529"/>
                </a:lnTo>
                <a:lnTo>
                  <a:pt x="0" y="23785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87829" y="1877783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RANDOM FOREST CLASSIFIER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7829" y="2324100"/>
            <a:ext cx="1117912" cy="16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Selected: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7829" y="2601683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Excels at non-linear pattern recognition in structural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829" y="2868383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Robust to overfitting through ensemble averaging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7829" y="3135083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Handles high-dimensional feature spaces efficiently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7829" y="3401783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Provides feature importance scores for interpretability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7829" y="3668483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Fast inference suitable for real-time applications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8214" y="4290012"/>
            <a:ext cx="5588454" cy="2226129"/>
          </a:xfrm>
          <a:custGeom>
            <a:avLst/>
            <a:gdLst/>
            <a:ahLst/>
            <a:cxnLst/>
            <a:rect l="l" t="t" r="r" b="b"/>
            <a:pathLst>
              <a:path w="5588454" h="2226129">
                <a:moveTo>
                  <a:pt x="0" y="0"/>
                </a:moveTo>
                <a:lnTo>
                  <a:pt x="5588454" y="0"/>
                </a:lnTo>
                <a:lnTo>
                  <a:pt x="5588454" y="2226129"/>
                </a:lnTo>
                <a:lnTo>
                  <a:pt x="0" y="2226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87829" y="4463142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HEURISTIC ENGINE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7829" y="4909454"/>
            <a:ext cx="1718922" cy="16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Fuzzy-Matching Layer: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7829" y="518704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Catches typosquatting: "gogle" vs "google"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7829" y="545374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Regex patterns for known attack signatures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7829" y="572044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Brand impersonation detection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7829" y="598714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Complements ML by catching semantic attacks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9414" y="1698168"/>
            <a:ext cx="5588454" cy="2988129"/>
          </a:xfrm>
          <a:custGeom>
            <a:avLst/>
            <a:gdLst/>
            <a:ahLst/>
            <a:cxnLst/>
            <a:rect l="l" t="t" r="r" b="b"/>
            <a:pathLst>
              <a:path w="5588454" h="2988129">
                <a:moveTo>
                  <a:pt x="0" y="0"/>
                </a:moveTo>
                <a:lnTo>
                  <a:pt x="5588454" y="0"/>
                </a:lnTo>
                <a:lnTo>
                  <a:pt x="5588454" y="2988129"/>
                </a:lnTo>
                <a:lnTo>
                  <a:pt x="0" y="2988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79029" y="1877783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COMPARATIVE PERFORMANCE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79029" y="2362200"/>
            <a:ext cx="1193942" cy="16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42002" y="2296883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98.2%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6243" y="2705097"/>
            <a:ext cx="5169354" cy="63954"/>
          </a:xfrm>
          <a:custGeom>
            <a:avLst/>
            <a:gdLst/>
            <a:ahLst/>
            <a:cxnLst/>
            <a:rect l="l" t="t" r="r" b="b"/>
            <a:pathLst>
              <a:path w="5169354" h="63954">
                <a:moveTo>
                  <a:pt x="0" y="0"/>
                </a:moveTo>
                <a:lnTo>
                  <a:pt x="5169354" y="0"/>
                </a:lnTo>
                <a:lnTo>
                  <a:pt x="5169354" y="63954"/>
                </a:lnTo>
                <a:lnTo>
                  <a:pt x="0" y="63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33457" y="2732312"/>
            <a:ext cx="5019675" cy="9525"/>
          </a:xfrm>
          <a:custGeom>
            <a:avLst/>
            <a:gdLst/>
            <a:ahLst/>
            <a:cxnLst/>
            <a:rect l="l" t="t" r="r" b="b"/>
            <a:pathLst>
              <a:path w="5019675" h="9525">
                <a:moveTo>
                  <a:pt x="0" y="0"/>
                </a:moveTo>
                <a:lnTo>
                  <a:pt x="5019675" y="0"/>
                </a:lnTo>
                <a:lnTo>
                  <a:pt x="50196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79029" y="2933700"/>
            <a:ext cx="1405533" cy="16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842002" y="2868383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98.0%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6243" y="3276597"/>
            <a:ext cx="5169354" cy="63954"/>
          </a:xfrm>
          <a:custGeom>
            <a:avLst/>
            <a:gdLst/>
            <a:ahLst/>
            <a:cxnLst/>
            <a:rect l="l" t="t" r="r" b="b"/>
            <a:pathLst>
              <a:path w="5169354" h="63954">
                <a:moveTo>
                  <a:pt x="0" y="0"/>
                </a:moveTo>
                <a:lnTo>
                  <a:pt x="5169354" y="0"/>
                </a:lnTo>
                <a:lnTo>
                  <a:pt x="5169354" y="63954"/>
                </a:lnTo>
                <a:lnTo>
                  <a:pt x="0" y="63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433457" y="3303812"/>
            <a:ext cx="5010150" cy="9525"/>
          </a:xfrm>
          <a:custGeom>
            <a:avLst/>
            <a:gdLst/>
            <a:ahLst/>
            <a:cxnLst/>
            <a:rect l="l" t="t" r="r" b="b"/>
            <a:pathLst>
              <a:path w="5010150" h="9525">
                <a:moveTo>
                  <a:pt x="0" y="0"/>
                </a:moveTo>
                <a:lnTo>
                  <a:pt x="5010150" y="0"/>
                </a:lnTo>
                <a:lnTo>
                  <a:pt x="5010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79029" y="3505200"/>
            <a:ext cx="406513" cy="16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42002" y="3439883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97.1%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6243" y="3848097"/>
            <a:ext cx="5169354" cy="63954"/>
          </a:xfrm>
          <a:custGeom>
            <a:avLst/>
            <a:gdLst/>
            <a:ahLst/>
            <a:cxnLst/>
            <a:rect l="l" t="t" r="r" b="b"/>
            <a:pathLst>
              <a:path w="5169354" h="63954">
                <a:moveTo>
                  <a:pt x="0" y="0"/>
                </a:moveTo>
                <a:lnTo>
                  <a:pt x="5169354" y="0"/>
                </a:lnTo>
                <a:lnTo>
                  <a:pt x="5169354" y="63954"/>
                </a:lnTo>
                <a:lnTo>
                  <a:pt x="0" y="63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433457" y="3875312"/>
            <a:ext cx="4972050" cy="9525"/>
          </a:xfrm>
          <a:custGeom>
            <a:avLst/>
            <a:gdLst/>
            <a:ahLst/>
            <a:cxnLst/>
            <a:rect l="l" t="t" r="r" b="b"/>
            <a:pathLst>
              <a:path w="4972050" h="9525">
                <a:moveTo>
                  <a:pt x="0" y="0"/>
                </a:moveTo>
                <a:lnTo>
                  <a:pt x="4972050" y="0"/>
                </a:lnTo>
                <a:lnTo>
                  <a:pt x="49720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79029" y="4076700"/>
            <a:ext cx="1075730" cy="16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842002" y="4011383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94.5%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6243" y="4419597"/>
            <a:ext cx="5169354" cy="63954"/>
          </a:xfrm>
          <a:custGeom>
            <a:avLst/>
            <a:gdLst/>
            <a:ahLst/>
            <a:cxnLst/>
            <a:rect l="l" t="t" r="r" b="b"/>
            <a:pathLst>
              <a:path w="5169354" h="63954">
                <a:moveTo>
                  <a:pt x="0" y="0"/>
                </a:moveTo>
                <a:lnTo>
                  <a:pt x="5169354" y="0"/>
                </a:lnTo>
                <a:lnTo>
                  <a:pt x="5169354" y="63954"/>
                </a:lnTo>
                <a:lnTo>
                  <a:pt x="0" y="63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433457" y="4446812"/>
            <a:ext cx="4838700" cy="9525"/>
          </a:xfrm>
          <a:custGeom>
            <a:avLst/>
            <a:gdLst/>
            <a:ahLst/>
            <a:cxnLst/>
            <a:rect l="l" t="t" r="r" b="b"/>
            <a:pathLst>
              <a:path w="4838700" h="9525">
                <a:moveTo>
                  <a:pt x="0" y="0"/>
                </a:moveTo>
                <a:lnTo>
                  <a:pt x="4838700" y="0"/>
                </a:lnTo>
                <a:lnTo>
                  <a:pt x="4838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199414" y="4893127"/>
            <a:ext cx="5588454" cy="1616529"/>
          </a:xfrm>
          <a:custGeom>
            <a:avLst/>
            <a:gdLst/>
            <a:ahLst/>
            <a:cxnLst/>
            <a:rect l="l" t="t" r="r" b="b"/>
            <a:pathLst>
              <a:path w="5588454" h="1616529">
                <a:moveTo>
                  <a:pt x="0" y="0"/>
                </a:moveTo>
                <a:lnTo>
                  <a:pt x="5588454" y="0"/>
                </a:lnTo>
                <a:lnTo>
                  <a:pt x="5588454" y="1616529"/>
                </a:lnTo>
                <a:lnTo>
                  <a:pt x="0" y="16165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379029" y="5072742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HYBRID ADVANTAGE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79029" y="549184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catches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structural obfuscation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79029" y="579664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Heuristics catch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deception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79029" y="610144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Combined: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Defense-in-depth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approach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0227" y="390227"/>
            <a:ext cx="11406343" cy="1035403"/>
          </a:xfrm>
          <a:custGeom>
            <a:avLst/>
            <a:gdLst/>
            <a:ahLst/>
            <a:cxnLst/>
            <a:rect l="l" t="t" r="r" b="b"/>
            <a:pathLst>
              <a:path w="11406343" h="1035403">
                <a:moveTo>
                  <a:pt x="0" y="0"/>
                </a:moveTo>
                <a:lnTo>
                  <a:pt x="11406343" y="0"/>
                </a:lnTo>
                <a:lnTo>
                  <a:pt x="11406343" y="1035403"/>
                </a:lnTo>
                <a:lnTo>
                  <a:pt x="0" y="10354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2842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61927" y="561923"/>
            <a:ext cx="11226838" cy="36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1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1927" y="998978"/>
            <a:ext cx="11144890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Data Flow &amp; Component Integration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227" y="1623342"/>
            <a:ext cx="11406343" cy="5205632"/>
          </a:xfrm>
          <a:custGeom>
            <a:avLst/>
            <a:gdLst/>
            <a:ahLst/>
            <a:cxnLst/>
            <a:rect l="l" t="t" r="r" b="b"/>
            <a:pathLst>
              <a:path w="11406343" h="5205632">
                <a:moveTo>
                  <a:pt x="0" y="0"/>
                </a:moveTo>
                <a:lnTo>
                  <a:pt x="11406343" y="0"/>
                </a:lnTo>
                <a:lnTo>
                  <a:pt x="11406343" y="5205632"/>
                </a:lnTo>
                <a:lnTo>
                  <a:pt x="0" y="52056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24364" y="2076006"/>
            <a:ext cx="1700090" cy="525506"/>
          </a:xfrm>
          <a:custGeom>
            <a:avLst/>
            <a:gdLst/>
            <a:ahLst/>
            <a:cxnLst/>
            <a:rect l="l" t="t" r="r" b="b"/>
            <a:pathLst>
              <a:path w="1700090" h="525506">
                <a:moveTo>
                  <a:pt x="0" y="0"/>
                </a:moveTo>
                <a:lnTo>
                  <a:pt x="1700090" y="0"/>
                </a:lnTo>
                <a:lnTo>
                  <a:pt x="1700090" y="525506"/>
                </a:lnTo>
                <a:lnTo>
                  <a:pt x="0" y="5255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42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4116" y="2211286"/>
            <a:ext cx="1520586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INPUT URL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19602" y="2156654"/>
            <a:ext cx="491686" cy="36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1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46362" y="1984953"/>
            <a:ext cx="1700090" cy="707612"/>
          </a:xfrm>
          <a:custGeom>
            <a:avLst/>
            <a:gdLst/>
            <a:ahLst/>
            <a:cxnLst/>
            <a:rect l="l" t="t" r="r" b="b"/>
            <a:pathLst>
              <a:path w="1700090" h="707612">
                <a:moveTo>
                  <a:pt x="0" y="0"/>
                </a:moveTo>
                <a:lnTo>
                  <a:pt x="1700090" y="0"/>
                </a:lnTo>
                <a:lnTo>
                  <a:pt x="1700090" y="707612"/>
                </a:lnTo>
                <a:lnTo>
                  <a:pt x="0" y="7076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42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36114" y="2120233"/>
            <a:ext cx="1520586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URL PARSER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772" y="2375181"/>
            <a:ext cx="149327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4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urllib.parse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41600" y="2156654"/>
            <a:ext cx="491686" cy="36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1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868360" y="1857479"/>
            <a:ext cx="1700090" cy="962561"/>
          </a:xfrm>
          <a:custGeom>
            <a:avLst/>
            <a:gdLst/>
            <a:ahLst/>
            <a:cxnLst/>
            <a:rect l="l" t="t" r="r" b="b"/>
            <a:pathLst>
              <a:path w="1700090" h="962561">
                <a:moveTo>
                  <a:pt x="0" y="0"/>
                </a:moveTo>
                <a:lnTo>
                  <a:pt x="1700090" y="0"/>
                </a:lnTo>
                <a:lnTo>
                  <a:pt x="1700090" y="962561"/>
                </a:lnTo>
                <a:lnTo>
                  <a:pt x="0" y="9625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42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958112" y="1992759"/>
            <a:ext cx="1520586" cy="50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FEATURE EXTRACTOR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71770" y="2502656"/>
            <a:ext cx="149327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4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lexical features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07197" y="2872071"/>
            <a:ext cx="2865569" cy="1108245"/>
          </a:xfrm>
          <a:custGeom>
            <a:avLst/>
            <a:gdLst/>
            <a:ahLst/>
            <a:cxnLst/>
            <a:rect l="l" t="t" r="r" b="b"/>
            <a:pathLst>
              <a:path w="2865569" h="1108245">
                <a:moveTo>
                  <a:pt x="0" y="0"/>
                </a:moveTo>
                <a:lnTo>
                  <a:pt x="2865569" y="0"/>
                </a:lnTo>
                <a:lnTo>
                  <a:pt x="2865569" y="1108245"/>
                </a:lnTo>
                <a:lnTo>
                  <a:pt x="0" y="1108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42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33371" y="3043772"/>
            <a:ext cx="2613222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42476" y="3371563"/>
            <a:ext cx="2595011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Structural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42476" y="3590090"/>
            <a:ext cx="2595011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Confidence Score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86249" y="3244089"/>
            <a:ext cx="382423" cy="36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1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20047" y="2872071"/>
            <a:ext cx="2865569" cy="1108245"/>
          </a:xfrm>
          <a:custGeom>
            <a:avLst/>
            <a:gdLst/>
            <a:ahLst/>
            <a:cxnLst/>
            <a:rect l="l" t="t" r="r" b="b"/>
            <a:pathLst>
              <a:path w="2865569" h="1108245">
                <a:moveTo>
                  <a:pt x="0" y="0"/>
                </a:moveTo>
                <a:lnTo>
                  <a:pt x="2865569" y="0"/>
                </a:lnTo>
                <a:lnTo>
                  <a:pt x="2865569" y="1108245"/>
                </a:lnTo>
                <a:lnTo>
                  <a:pt x="0" y="1108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42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46221" y="3043772"/>
            <a:ext cx="2613222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HEURISTIC ENGINE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55326" y="3371563"/>
            <a:ext cx="2595011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Regex Patterns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55326" y="3590090"/>
            <a:ext cx="2595011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Fuzzy Matching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12508" y="4006333"/>
            <a:ext cx="327791" cy="36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1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72253" y="4396560"/>
            <a:ext cx="3448308" cy="926139"/>
          </a:xfrm>
          <a:custGeom>
            <a:avLst/>
            <a:gdLst/>
            <a:ahLst/>
            <a:cxnLst/>
            <a:rect l="l" t="t" r="r" b="b"/>
            <a:pathLst>
              <a:path w="3448308" h="926139">
                <a:moveTo>
                  <a:pt x="0" y="0"/>
                </a:moveTo>
                <a:lnTo>
                  <a:pt x="3448308" y="0"/>
                </a:lnTo>
                <a:lnTo>
                  <a:pt x="3448308" y="926139"/>
                </a:lnTo>
                <a:lnTo>
                  <a:pt x="0" y="926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42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489321" y="4568261"/>
            <a:ext cx="3214172" cy="29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1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DECISION FUSION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7532" y="4932473"/>
            <a:ext cx="3177751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Weighted Combination → Final Classification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12508" y="5348712"/>
            <a:ext cx="327791" cy="36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1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43828" y="5738939"/>
            <a:ext cx="2282829" cy="853297"/>
          </a:xfrm>
          <a:custGeom>
            <a:avLst/>
            <a:gdLst/>
            <a:ahLst/>
            <a:cxnLst/>
            <a:rect l="l" t="t" r="r" b="b"/>
            <a:pathLst>
              <a:path w="2282829" h="853297">
                <a:moveTo>
                  <a:pt x="0" y="0"/>
                </a:moveTo>
                <a:lnTo>
                  <a:pt x="2282829" y="0"/>
                </a:lnTo>
                <a:lnTo>
                  <a:pt x="2282829" y="853297"/>
                </a:lnTo>
                <a:lnTo>
                  <a:pt x="0" y="85329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2571">
            <a:solidFill>
              <a:srgbClr val="000000"/>
            </a:solidFill>
            <a:prstDash val="solid"/>
          </a:ln>
          <a:effectLst>
            <a:outerShdw blurRad="101600" dist="3642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760896" y="5910640"/>
            <a:ext cx="2048693" cy="29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PHISHING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779107" y="6202009"/>
            <a:ext cx="2012272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Label 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66156" y="5738939"/>
            <a:ext cx="2282829" cy="853297"/>
          </a:xfrm>
          <a:custGeom>
            <a:avLst/>
            <a:gdLst/>
            <a:ahLst/>
            <a:cxnLst/>
            <a:rect l="l" t="t" r="r" b="b"/>
            <a:pathLst>
              <a:path w="2282829" h="853297">
                <a:moveTo>
                  <a:pt x="0" y="0"/>
                </a:moveTo>
                <a:lnTo>
                  <a:pt x="2282829" y="0"/>
                </a:lnTo>
                <a:lnTo>
                  <a:pt x="2282829" y="853297"/>
                </a:lnTo>
                <a:lnTo>
                  <a:pt x="0" y="853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42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83224" y="5910640"/>
            <a:ext cx="2048693" cy="291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21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LEGITIMATE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1434" y="6202009"/>
            <a:ext cx="2012272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Label 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214" y="408214"/>
            <a:ext cx="11379654" cy="1083129"/>
          </a:xfrm>
          <a:custGeom>
            <a:avLst/>
            <a:gdLst/>
            <a:ahLst/>
            <a:cxnLst/>
            <a:rect l="l" t="t" r="r" b="b"/>
            <a:pathLst>
              <a:path w="11379654" h="1083129">
                <a:moveTo>
                  <a:pt x="0" y="0"/>
                </a:moveTo>
                <a:lnTo>
                  <a:pt x="11379654" y="0"/>
                </a:lnTo>
                <a:lnTo>
                  <a:pt x="11379654" y="1083129"/>
                </a:lnTo>
                <a:lnTo>
                  <a:pt x="0" y="1083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7829" y="587829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TRAINING &amp; HYPERPARAMETER TUNING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7829" y="1045029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Training Configuration &amp; Optimization Strategy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8214" y="1698168"/>
            <a:ext cx="5588454" cy="2302329"/>
          </a:xfrm>
          <a:custGeom>
            <a:avLst/>
            <a:gdLst/>
            <a:ahLst/>
            <a:cxnLst/>
            <a:rect l="l" t="t" r="r" b="b"/>
            <a:pathLst>
              <a:path w="5588454" h="2302329">
                <a:moveTo>
                  <a:pt x="0" y="0"/>
                </a:moveTo>
                <a:lnTo>
                  <a:pt x="5588454" y="0"/>
                </a:lnTo>
                <a:lnTo>
                  <a:pt x="5588454" y="2302329"/>
                </a:lnTo>
                <a:lnTo>
                  <a:pt x="0" y="23023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87829" y="1877783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TRAIN/TEST SPLIT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3529" y="2296883"/>
            <a:ext cx="2762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4966" y="2754083"/>
            <a:ext cx="2619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9729" y="3020783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IN" sz="1200" dirty="0"/>
              <a:t>188,636 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URLs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62300" y="2296883"/>
            <a:ext cx="2762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33738" y="2754083"/>
            <a:ext cx="2619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38500" y="3020783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IN" sz="1200" dirty="0"/>
              <a:t>47,159 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7829" y="3363683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Stratified sampling maintains class balance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7829" y="3592283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Random state for reproducibility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8214" y="4207327"/>
            <a:ext cx="5588454" cy="2245179"/>
          </a:xfrm>
          <a:custGeom>
            <a:avLst/>
            <a:gdLst/>
            <a:ahLst/>
            <a:cxnLst/>
            <a:rect l="l" t="t" r="r" b="b"/>
            <a:pathLst>
              <a:path w="5588454" h="2245179">
                <a:moveTo>
                  <a:pt x="0" y="0"/>
                </a:moveTo>
                <a:lnTo>
                  <a:pt x="5588454" y="0"/>
                </a:lnTo>
                <a:lnTo>
                  <a:pt x="5588454" y="2245179"/>
                </a:lnTo>
                <a:lnTo>
                  <a:pt x="0" y="22451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87829" y="4386942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RATIONALE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7829" y="4806042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n_estimators=100: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Sufficient trees for stable predictions without excessive training 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7829" y="5339446"/>
            <a:ext cx="5305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max_depth=12: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Limits tree complexity to prevent memorization of training noise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9414" y="1698168"/>
            <a:ext cx="5588454" cy="4750254"/>
          </a:xfrm>
          <a:custGeom>
            <a:avLst/>
            <a:gdLst/>
            <a:ahLst/>
            <a:cxnLst/>
            <a:rect l="l" t="t" r="r" b="b"/>
            <a:pathLst>
              <a:path w="5588454" h="4750254">
                <a:moveTo>
                  <a:pt x="0" y="0"/>
                </a:moveTo>
                <a:lnTo>
                  <a:pt x="5588454" y="0"/>
                </a:lnTo>
                <a:lnTo>
                  <a:pt x="5588454" y="4750254"/>
                </a:lnTo>
                <a:lnTo>
                  <a:pt x="0" y="47502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79029" y="1877783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HYPERPARAMETER SETTINGS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6243" y="2324097"/>
            <a:ext cx="5169354" cy="854529"/>
          </a:xfrm>
          <a:custGeom>
            <a:avLst/>
            <a:gdLst/>
            <a:ahLst/>
            <a:cxnLst/>
            <a:rect l="l" t="t" r="r" b="b"/>
            <a:pathLst>
              <a:path w="5169354" h="854529">
                <a:moveTo>
                  <a:pt x="0" y="0"/>
                </a:moveTo>
                <a:lnTo>
                  <a:pt x="5169354" y="0"/>
                </a:lnTo>
                <a:lnTo>
                  <a:pt x="5169354" y="854529"/>
                </a:lnTo>
                <a:lnTo>
                  <a:pt x="0" y="85452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47757" y="2484662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n_estimators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7988" y="2465612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47757" y="2808512"/>
            <a:ext cx="496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Number of decision trees in ensemble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6243" y="3347356"/>
            <a:ext cx="5169354" cy="854529"/>
          </a:xfrm>
          <a:custGeom>
            <a:avLst/>
            <a:gdLst/>
            <a:ahLst/>
            <a:cxnLst/>
            <a:rect l="l" t="t" r="r" b="b"/>
            <a:pathLst>
              <a:path w="5169354" h="854529">
                <a:moveTo>
                  <a:pt x="0" y="0"/>
                </a:moveTo>
                <a:lnTo>
                  <a:pt x="5169354" y="0"/>
                </a:lnTo>
                <a:lnTo>
                  <a:pt x="5169354" y="854529"/>
                </a:lnTo>
                <a:lnTo>
                  <a:pt x="0" y="85452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47757" y="3507921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max_depth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30473" y="3488871"/>
            <a:ext cx="41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47757" y="3831771"/>
            <a:ext cx="496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Maximum depth of each tree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6243" y="4370614"/>
            <a:ext cx="5169354" cy="854529"/>
          </a:xfrm>
          <a:custGeom>
            <a:avLst/>
            <a:gdLst/>
            <a:ahLst/>
            <a:cxnLst/>
            <a:rect l="l" t="t" r="r" b="b"/>
            <a:pathLst>
              <a:path w="5169354" h="854529">
                <a:moveTo>
                  <a:pt x="0" y="0"/>
                </a:moveTo>
                <a:lnTo>
                  <a:pt x="5169354" y="0"/>
                </a:lnTo>
                <a:lnTo>
                  <a:pt x="5169354" y="854529"/>
                </a:lnTo>
                <a:lnTo>
                  <a:pt x="0" y="85452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47757" y="4531179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random_state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30473" y="4512129"/>
            <a:ext cx="41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47757" y="4855029"/>
            <a:ext cx="496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Reproducibility seed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6243" y="5731327"/>
            <a:ext cx="5169354" cy="511629"/>
          </a:xfrm>
          <a:custGeom>
            <a:avLst/>
            <a:gdLst/>
            <a:ahLst/>
            <a:cxnLst/>
            <a:rect l="l" t="t" r="r" b="b"/>
            <a:pathLst>
              <a:path w="5169354" h="511629">
                <a:moveTo>
                  <a:pt x="0" y="0"/>
                </a:moveTo>
                <a:lnTo>
                  <a:pt x="5169354" y="0"/>
                </a:lnTo>
                <a:lnTo>
                  <a:pt x="5169354" y="511629"/>
                </a:lnTo>
                <a:lnTo>
                  <a:pt x="0" y="511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79029" y="5704112"/>
            <a:ext cx="5191125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Balance:</a:t>
            </a: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Model complexity vs generalization capability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214" y="408214"/>
            <a:ext cx="11379654" cy="1083129"/>
          </a:xfrm>
          <a:custGeom>
            <a:avLst/>
            <a:gdLst/>
            <a:ahLst/>
            <a:cxnLst/>
            <a:rect l="l" t="t" r="r" b="b"/>
            <a:pathLst>
              <a:path w="11379654" h="1083129">
                <a:moveTo>
                  <a:pt x="0" y="0"/>
                </a:moveTo>
                <a:lnTo>
                  <a:pt x="11379654" y="0"/>
                </a:lnTo>
                <a:lnTo>
                  <a:pt x="11379654" y="1083129"/>
                </a:lnTo>
                <a:lnTo>
                  <a:pt x="0" y="1083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7829" y="587834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EVALUATION METRICS &amp; JUSTIFICATION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7829" y="1045034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Measurement Framework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8214" y="1698173"/>
            <a:ext cx="5588454" cy="3140529"/>
          </a:xfrm>
          <a:custGeom>
            <a:avLst/>
            <a:gdLst/>
            <a:ahLst/>
            <a:cxnLst/>
            <a:rect l="l" t="t" r="r" b="b"/>
            <a:pathLst>
              <a:path w="5588454" h="3140529">
                <a:moveTo>
                  <a:pt x="0" y="0"/>
                </a:moveTo>
                <a:lnTo>
                  <a:pt x="5588454" y="0"/>
                </a:lnTo>
                <a:lnTo>
                  <a:pt x="5588454" y="3140529"/>
                </a:lnTo>
                <a:lnTo>
                  <a:pt x="0" y="31405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87829" y="1877792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KEY METRICS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7829" y="2296892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00222" y="2315942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Overall correctness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829" y="260169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(TP + TN) / Total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7829" y="2906492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44566" y="2925542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Minimize False Positives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7829" y="321129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TP / (TP + FP)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7829" y="3516092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76700" y="3535142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Minimize False Negatives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7829" y="382089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TP / (TP + FN)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7829" y="4125692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Score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7242" y="4144742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Harmonic mean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7829" y="443049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× (Precision × Recall) / (Precision + Recall)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8214" y="5045531"/>
            <a:ext cx="5588454" cy="1578429"/>
          </a:xfrm>
          <a:custGeom>
            <a:avLst/>
            <a:gdLst/>
            <a:ahLst/>
            <a:cxnLst/>
            <a:rect l="l" t="t" r="r" b="b"/>
            <a:pathLst>
              <a:path w="5588454" h="1578429">
                <a:moveTo>
                  <a:pt x="0" y="0"/>
                </a:moveTo>
                <a:lnTo>
                  <a:pt x="5588454" y="0"/>
                </a:lnTo>
                <a:lnTo>
                  <a:pt x="5588454" y="1578429"/>
                </a:lnTo>
                <a:lnTo>
                  <a:pt x="0" y="15784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87829" y="5225151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WHY THESE METRICS?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7829" y="5644251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 cybersecurity,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both error types carry significant costs: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7829" y="5949051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Positives: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Block legitimate sites → user frustration, business loss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7829" y="6215751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Negatives: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Allow malware → security breach, data theft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9414" y="1698173"/>
            <a:ext cx="5588454" cy="4921704"/>
          </a:xfrm>
          <a:custGeom>
            <a:avLst/>
            <a:gdLst/>
            <a:ahLst/>
            <a:cxnLst/>
            <a:rect l="l" t="t" r="r" b="b"/>
            <a:pathLst>
              <a:path w="5588454" h="4921704">
                <a:moveTo>
                  <a:pt x="0" y="0"/>
                </a:moveTo>
                <a:lnTo>
                  <a:pt x="5588454" y="0"/>
                </a:lnTo>
                <a:lnTo>
                  <a:pt x="5588454" y="4921704"/>
                </a:lnTo>
                <a:lnTo>
                  <a:pt x="0" y="49217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79029" y="1877792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BUSINESS IMPACT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6243" y="2324107"/>
            <a:ext cx="5169354" cy="1045029"/>
          </a:xfrm>
          <a:custGeom>
            <a:avLst/>
            <a:gdLst/>
            <a:ahLst/>
            <a:cxnLst/>
            <a:rect l="l" t="t" r="r" b="b"/>
            <a:pathLst>
              <a:path w="5169354" h="1045029">
                <a:moveTo>
                  <a:pt x="0" y="0"/>
                </a:moveTo>
                <a:lnTo>
                  <a:pt x="5169354" y="0"/>
                </a:lnTo>
                <a:lnTo>
                  <a:pt x="5169354" y="1045029"/>
                </a:lnTo>
                <a:lnTo>
                  <a:pt x="0" y="10450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47757" y="2465617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Positive Cost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47757" y="2770417"/>
            <a:ext cx="4962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Lost productivity, customer complaints, reputational damage from over-blocking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6243" y="3537865"/>
            <a:ext cx="5169354" cy="1045029"/>
          </a:xfrm>
          <a:custGeom>
            <a:avLst/>
            <a:gdLst/>
            <a:ahLst/>
            <a:cxnLst/>
            <a:rect l="l" t="t" r="r" b="b"/>
            <a:pathLst>
              <a:path w="5169354" h="1045029">
                <a:moveTo>
                  <a:pt x="0" y="0"/>
                </a:moveTo>
                <a:lnTo>
                  <a:pt x="5169354" y="0"/>
                </a:lnTo>
                <a:lnTo>
                  <a:pt x="5169354" y="1045029"/>
                </a:lnTo>
                <a:lnTo>
                  <a:pt x="0" y="10450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47757" y="3679375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Negative Cost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47757" y="3984175"/>
            <a:ext cx="4962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$4.88M average breach cost, data exposure, regulatory penalties, operational disruption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6243" y="4751614"/>
            <a:ext cx="5169354" cy="816429"/>
          </a:xfrm>
          <a:custGeom>
            <a:avLst/>
            <a:gdLst/>
            <a:ahLst/>
            <a:cxnLst/>
            <a:rect l="l" t="t" r="r" b="b"/>
            <a:pathLst>
              <a:path w="5169354" h="816429">
                <a:moveTo>
                  <a:pt x="0" y="0"/>
                </a:moveTo>
                <a:lnTo>
                  <a:pt x="5169354" y="0"/>
                </a:lnTo>
                <a:lnTo>
                  <a:pt x="5169354" y="816429"/>
                </a:lnTo>
                <a:lnTo>
                  <a:pt x="0" y="8164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547757" y="4893134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Score Priority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47757" y="5197934"/>
            <a:ext cx="496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Balances precision and recall for optimal security posture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6243" y="5905507"/>
            <a:ext cx="5169354" cy="511629"/>
          </a:xfrm>
          <a:custGeom>
            <a:avLst/>
            <a:gdLst/>
            <a:ahLst/>
            <a:cxnLst/>
            <a:rect l="l" t="t" r="r" b="b"/>
            <a:pathLst>
              <a:path w="5169354" h="511629">
                <a:moveTo>
                  <a:pt x="0" y="0"/>
                </a:moveTo>
                <a:lnTo>
                  <a:pt x="5169354" y="0"/>
                </a:lnTo>
                <a:lnTo>
                  <a:pt x="5169354" y="511629"/>
                </a:lnTo>
                <a:lnTo>
                  <a:pt x="0" y="5116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79029" y="5878292"/>
            <a:ext cx="5191125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Critical:</a:t>
            </a: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High precision AND high recall required - not just accuracy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214" y="408214"/>
            <a:ext cx="11379654" cy="1083129"/>
          </a:xfrm>
          <a:custGeom>
            <a:avLst/>
            <a:gdLst/>
            <a:ahLst/>
            <a:cxnLst/>
            <a:rect l="l" t="t" r="r" b="b"/>
            <a:pathLst>
              <a:path w="11379654" h="1083129">
                <a:moveTo>
                  <a:pt x="0" y="0"/>
                </a:moveTo>
                <a:lnTo>
                  <a:pt x="11379654" y="0"/>
                </a:lnTo>
                <a:lnTo>
                  <a:pt x="11379654" y="1083129"/>
                </a:lnTo>
                <a:lnTo>
                  <a:pt x="0" y="1083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7829" y="587834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RESULTS &amp; PERFORMANCE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7829" y="1045034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Achieved Metrics &amp; Benchmark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8214" y="1698173"/>
            <a:ext cx="3654879" cy="1797504"/>
          </a:xfrm>
          <a:custGeom>
            <a:avLst/>
            <a:gdLst/>
            <a:ahLst/>
            <a:cxnLst/>
            <a:rect l="l" t="t" r="r" b="b"/>
            <a:pathLst>
              <a:path w="3654879" h="1797504">
                <a:moveTo>
                  <a:pt x="0" y="0"/>
                </a:moveTo>
                <a:lnTo>
                  <a:pt x="3654879" y="0"/>
                </a:lnTo>
                <a:lnTo>
                  <a:pt x="3654879" y="1797504"/>
                </a:lnTo>
                <a:lnTo>
                  <a:pt x="0" y="17975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44954" y="1968959"/>
            <a:ext cx="3581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~99%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679" y="2616659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Accuracy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9729" y="2997659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 extracted robust features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8214" y="3703864"/>
            <a:ext cx="3654879" cy="1797504"/>
          </a:xfrm>
          <a:custGeom>
            <a:avLst/>
            <a:gdLst/>
            <a:ahLst/>
            <a:cxnLst/>
            <a:rect l="l" t="t" r="r" b="b"/>
            <a:pathLst>
              <a:path w="3654879" h="1797504">
                <a:moveTo>
                  <a:pt x="0" y="0"/>
                </a:moveTo>
                <a:lnTo>
                  <a:pt x="3654879" y="0"/>
                </a:lnTo>
                <a:lnTo>
                  <a:pt x="3654879" y="1797504"/>
                </a:lnTo>
                <a:lnTo>
                  <a:pt x="0" y="17975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4954" y="3974650"/>
            <a:ext cx="3581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99.2%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679" y="4622350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9729" y="5003350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Minimal false positives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68986" y="1698173"/>
            <a:ext cx="3654879" cy="1797504"/>
          </a:xfrm>
          <a:custGeom>
            <a:avLst/>
            <a:gdLst/>
            <a:ahLst/>
            <a:cxnLst/>
            <a:rect l="l" t="t" r="r" b="b"/>
            <a:pathLst>
              <a:path w="3654879" h="1797504">
                <a:moveTo>
                  <a:pt x="0" y="0"/>
                </a:moveTo>
                <a:lnTo>
                  <a:pt x="3654879" y="0"/>
                </a:lnTo>
                <a:lnTo>
                  <a:pt x="3654879" y="1797504"/>
                </a:lnTo>
                <a:lnTo>
                  <a:pt x="0" y="17975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305726" y="1968959"/>
            <a:ext cx="3581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91451" y="2616659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10501" y="2997659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Minimal false negatives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68986" y="3703864"/>
            <a:ext cx="3654879" cy="1797504"/>
          </a:xfrm>
          <a:custGeom>
            <a:avLst/>
            <a:gdLst/>
            <a:ahLst/>
            <a:cxnLst/>
            <a:rect l="l" t="t" r="r" b="b"/>
            <a:pathLst>
              <a:path w="3654879" h="1797504">
                <a:moveTo>
                  <a:pt x="0" y="0"/>
                </a:moveTo>
                <a:lnTo>
                  <a:pt x="3654879" y="0"/>
                </a:lnTo>
                <a:lnTo>
                  <a:pt x="3654879" y="1797504"/>
                </a:lnTo>
                <a:lnTo>
                  <a:pt x="0" y="17975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05726" y="3974650"/>
            <a:ext cx="3581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99.6%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91451" y="4622350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F1 Score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10501" y="5003350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Balanced performance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9758" y="1698173"/>
            <a:ext cx="3654879" cy="3807279"/>
          </a:xfrm>
          <a:custGeom>
            <a:avLst/>
            <a:gdLst/>
            <a:ahLst/>
            <a:cxnLst/>
            <a:rect l="l" t="t" r="r" b="b"/>
            <a:pathLst>
              <a:path w="3654879" h="3807279">
                <a:moveTo>
                  <a:pt x="0" y="0"/>
                </a:moveTo>
                <a:lnTo>
                  <a:pt x="3654879" y="0"/>
                </a:lnTo>
                <a:lnTo>
                  <a:pt x="3654879" y="3807279"/>
                </a:lnTo>
                <a:lnTo>
                  <a:pt x="0" y="38072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309372" y="1877792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CONFUSION MATRIX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36587" y="2737765"/>
            <a:ext cx="1559379" cy="702129"/>
          </a:xfrm>
          <a:custGeom>
            <a:avLst/>
            <a:gdLst/>
            <a:ahLst/>
            <a:cxnLst/>
            <a:rect l="l" t="t" r="r" b="b"/>
            <a:pathLst>
              <a:path w="1559379" h="702129">
                <a:moveTo>
                  <a:pt x="0" y="0"/>
                </a:moveTo>
                <a:lnTo>
                  <a:pt x="1559379" y="0"/>
                </a:lnTo>
                <a:lnTo>
                  <a:pt x="1559379" y="702129"/>
                </a:lnTo>
                <a:lnTo>
                  <a:pt x="0" y="70212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406664" y="28411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 Positive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851" y="3031675"/>
            <a:ext cx="146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0,122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022002" y="2737765"/>
            <a:ext cx="1559379" cy="702129"/>
          </a:xfrm>
          <a:custGeom>
            <a:avLst/>
            <a:gdLst/>
            <a:ahLst/>
            <a:cxnLst/>
            <a:rect l="l" t="t" r="r" b="b"/>
            <a:pathLst>
              <a:path w="1559379" h="702129">
                <a:moveTo>
                  <a:pt x="0" y="0"/>
                </a:moveTo>
                <a:lnTo>
                  <a:pt x="1559379" y="0"/>
                </a:lnTo>
                <a:lnTo>
                  <a:pt x="1559379" y="702129"/>
                </a:lnTo>
                <a:lnTo>
                  <a:pt x="0" y="702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092078" y="28411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Positive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68266" y="3031675"/>
            <a:ext cx="146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36587" y="3570514"/>
            <a:ext cx="1559379" cy="702129"/>
          </a:xfrm>
          <a:custGeom>
            <a:avLst/>
            <a:gdLst/>
            <a:ahLst/>
            <a:cxnLst/>
            <a:rect l="l" t="t" r="r" b="b"/>
            <a:pathLst>
              <a:path w="1559379" h="702129">
                <a:moveTo>
                  <a:pt x="0" y="0"/>
                </a:moveTo>
                <a:lnTo>
                  <a:pt x="1559379" y="0"/>
                </a:lnTo>
                <a:lnTo>
                  <a:pt x="1559379" y="702129"/>
                </a:lnTo>
                <a:lnTo>
                  <a:pt x="0" y="702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406664" y="3673934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Negative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82851" y="3864434"/>
            <a:ext cx="146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</a:rPr>
              <a:t>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022002" y="3570514"/>
            <a:ext cx="1559379" cy="702129"/>
          </a:xfrm>
          <a:custGeom>
            <a:avLst/>
            <a:gdLst/>
            <a:ahLst/>
            <a:cxnLst/>
            <a:rect l="l" t="t" r="r" b="b"/>
            <a:pathLst>
              <a:path w="1559379" h="702129">
                <a:moveTo>
                  <a:pt x="0" y="0"/>
                </a:moveTo>
                <a:lnTo>
                  <a:pt x="1559379" y="0"/>
                </a:lnTo>
                <a:lnTo>
                  <a:pt x="1559379" y="702129"/>
                </a:lnTo>
                <a:lnTo>
                  <a:pt x="0" y="70212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0092078" y="3673934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 Negative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68266" y="3864434"/>
            <a:ext cx="146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</a:rPr>
              <a:t>27035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09372" y="4827817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High TP &amp; TN rates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09372" y="5094517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Low FP &amp; FN rates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8214" y="5709565"/>
            <a:ext cx="11379654" cy="740229"/>
          </a:xfrm>
          <a:custGeom>
            <a:avLst/>
            <a:gdLst/>
            <a:ahLst/>
            <a:cxnLst/>
            <a:rect l="l" t="t" r="r" b="b"/>
            <a:pathLst>
              <a:path w="11379654" h="740229">
                <a:moveTo>
                  <a:pt x="0" y="0"/>
                </a:moveTo>
                <a:lnTo>
                  <a:pt x="11379654" y="0"/>
                </a:lnTo>
                <a:lnTo>
                  <a:pt x="11379654" y="740229"/>
                </a:lnTo>
                <a:lnTo>
                  <a:pt x="0" y="740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49729" y="5851075"/>
            <a:ext cx="11172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Benchmark: Matches top research (95-99% RF accuracy) ▶ Successfully differentiates normal from obfuscated traffic ▶ Hybrid approach validates superiority over pure ML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214" y="408214"/>
            <a:ext cx="11379654" cy="1083129"/>
          </a:xfrm>
          <a:custGeom>
            <a:avLst/>
            <a:gdLst/>
            <a:ahLst/>
            <a:cxnLst/>
            <a:rect l="l" t="t" r="r" b="b"/>
            <a:pathLst>
              <a:path w="11379654" h="1083129">
                <a:moveTo>
                  <a:pt x="0" y="0"/>
                </a:moveTo>
                <a:lnTo>
                  <a:pt x="11379654" y="0"/>
                </a:lnTo>
                <a:lnTo>
                  <a:pt x="11379654" y="1083129"/>
                </a:lnTo>
                <a:lnTo>
                  <a:pt x="0" y="1083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7829" y="587834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INTERPRETATION OF RESULTS &amp; FEATURE IMPORTANCE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7829" y="1045034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the Model Performed Well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8214" y="1698173"/>
            <a:ext cx="5588454" cy="2273754"/>
          </a:xfrm>
          <a:custGeom>
            <a:avLst/>
            <a:gdLst/>
            <a:ahLst/>
            <a:cxnLst/>
            <a:rect l="l" t="t" r="r" b="b"/>
            <a:pathLst>
              <a:path w="5588454" h="2273754">
                <a:moveTo>
                  <a:pt x="0" y="0"/>
                </a:moveTo>
                <a:lnTo>
                  <a:pt x="5588454" y="0"/>
                </a:lnTo>
                <a:lnTo>
                  <a:pt x="5588454" y="2273754"/>
                </a:lnTo>
                <a:lnTo>
                  <a:pt x="0" y="22737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87829" y="1877792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PERFORMANCE EXPLANATION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7829" y="229689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ML model heavily weighted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structural anomalies: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7829" y="260169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Extreme URL length (85+ chars)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829" y="286839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High special character ratios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7829" y="313509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IP-based domains (rare in legitimate)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7829" y="3401792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Lack of HTTPS encryption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8214" y="4177398"/>
            <a:ext cx="5588454" cy="2273754"/>
          </a:xfrm>
          <a:custGeom>
            <a:avLst/>
            <a:gdLst/>
            <a:ahLst/>
            <a:cxnLst/>
            <a:rect l="l" t="t" r="r" b="b"/>
            <a:pathLst>
              <a:path w="5588454" h="2273754">
                <a:moveTo>
                  <a:pt x="0" y="0"/>
                </a:moveTo>
                <a:lnTo>
                  <a:pt x="5588454" y="0"/>
                </a:lnTo>
                <a:lnTo>
                  <a:pt x="5588454" y="2273754"/>
                </a:lnTo>
                <a:lnTo>
                  <a:pt x="0" y="22737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7829" y="4357008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REAL-WORLD MEANING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7829" y="4803325"/>
            <a:ext cx="2176888" cy="16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Structural Analysis Success: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7829" y="508090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Identifies bulk-generated malware links through mathematical patterns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7829" y="5412925"/>
            <a:ext cx="1982221" cy="16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Heuristic Layer Necessity: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7829" y="5690508"/>
            <a:ext cx="530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Catches human-targeted brand spoofing that pure ML misses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9414" y="1698173"/>
            <a:ext cx="5588454" cy="4750254"/>
          </a:xfrm>
          <a:custGeom>
            <a:avLst/>
            <a:gdLst/>
            <a:ahLst/>
            <a:cxnLst/>
            <a:rect l="l" t="t" r="r" b="b"/>
            <a:pathLst>
              <a:path w="5588454" h="4750254">
                <a:moveTo>
                  <a:pt x="0" y="0"/>
                </a:moveTo>
                <a:lnTo>
                  <a:pt x="5588454" y="0"/>
                </a:lnTo>
                <a:lnTo>
                  <a:pt x="5588454" y="4750254"/>
                </a:lnTo>
                <a:lnTo>
                  <a:pt x="0" y="47502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79029" y="1877792"/>
            <a:ext cx="534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FEATURE IMPORTANCE RANKING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79029" y="2315942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URLLength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03952" y="2296892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0.28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6243" y="2628907"/>
            <a:ext cx="5169354" cy="102054"/>
          </a:xfrm>
          <a:custGeom>
            <a:avLst/>
            <a:gdLst/>
            <a:ahLst/>
            <a:cxnLst/>
            <a:rect l="l" t="t" r="r" b="b"/>
            <a:pathLst>
              <a:path w="5169354" h="102054">
                <a:moveTo>
                  <a:pt x="0" y="0"/>
                </a:moveTo>
                <a:lnTo>
                  <a:pt x="5169354" y="0"/>
                </a:lnTo>
                <a:lnTo>
                  <a:pt x="5169354" y="102054"/>
                </a:lnTo>
                <a:lnTo>
                  <a:pt x="0" y="1020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Shape 21"/>
          <p:cNvSpPr/>
          <p:nvPr/>
        </p:nvSpPr>
        <p:spPr>
          <a:xfrm>
            <a:off x="6433457" y="2656117"/>
            <a:ext cx="1428750" cy="47625"/>
          </a:xfrm>
          <a:custGeom>
            <a:avLst/>
            <a:gdLst/>
            <a:ahLst/>
            <a:cxnLst/>
            <a:rect l="l" t="t" r="r" b="b"/>
            <a:pathLst>
              <a:path w="1428750" h="47625">
                <a:moveTo>
                  <a:pt x="0" y="0"/>
                </a:moveTo>
                <a:lnTo>
                  <a:pt x="1428750" y="0"/>
                </a:lnTo>
                <a:lnTo>
                  <a:pt x="142875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79029" y="2849342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SpecialCharRatio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203952" y="2830292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0.22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6243" y="3162307"/>
            <a:ext cx="5169354" cy="102054"/>
          </a:xfrm>
          <a:custGeom>
            <a:avLst/>
            <a:gdLst/>
            <a:ahLst/>
            <a:cxnLst/>
            <a:rect l="l" t="t" r="r" b="b"/>
            <a:pathLst>
              <a:path w="5169354" h="102054">
                <a:moveTo>
                  <a:pt x="0" y="0"/>
                </a:moveTo>
                <a:lnTo>
                  <a:pt x="5169354" y="0"/>
                </a:lnTo>
                <a:lnTo>
                  <a:pt x="5169354" y="102054"/>
                </a:lnTo>
                <a:lnTo>
                  <a:pt x="0" y="1020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433457" y="3189517"/>
            <a:ext cx="1123950" cy="47625"/>
          </a:xfrm>
          <a:custGeom>
            <a:avLst/>
            <a:gdLst/>
            <a:ahLst/>
            <a:cxnLst/>
            <a:rect l="l" t="t" r="r" b="b"/>
            <a:pathLst>
              <a:path w="1123950" h="47625">
                <a:moveTo>
                  <a:pt x="0" y="0"/>
                </a:moveTo>
                <a:lnTo>
                  <a:pt x="1123950" y="0"/>
                </a:lnTo>
                <a:lnTo>
                  <a:pt x="112395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79029" y="3382742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IsDomainIP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203952" y="3363692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0.18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6243" y="3695707"/>
            <a:ext cx="5169354" cy="102054"/>
          </a:xfrm>
          <a:custGeom>
            <a:avLst/>
            <a:gdLst/>
            <a:ahLst/>
            <a:cxnLst/>
            <a:rect l="l" t="t" r="r" b="b"/>
            <a:pathLst>
              <a:path w="5169354" h="102054">
                <a:moveTo>
                  <a:pt x="0" y="0"/>
                </a:moveTo>
                <a:lnTo>
                  <a:pt x="5169354" y="0"/>
                </a:lnTo>
                <a:lnTo>
                  <a:pt x="5169354" y="102054"/>
                </a:lnTo>
                <a:lnTo>
                  <a:pt x="0" y="1020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433457" y="3722917"/>
            <a:ext cx="923925" cy="47625"/>
          </a:xfrm>
          <a:custGeom>
            <a:avLst/>
            <a:gdLst/>
            <a:ahLst/>
            <a:cxnLst/>
            <a:rect l="l" t="t" r="r" b="b"/>
            <a:pathLst>
              <a:path w="923925" h="47625">
                <a:moveTo>
                  <a:pt x="0" y="0"/>
                </a:moveTo>
                <a:lnTo>
                  <a:pt x="923925" y="0"/>
                </a:lnTo>
                <a:lnTo>
                  <a:pt x="9239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79029" y="3916142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SubdomainDepth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203952" y="3897092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6243" y="4229107"/>
            <a:ext cx="5169354" cy="102054"/>
          </a:xfrm>
          <a:custGeom>
            <a:avLst/>
            <a:gdLst/>
            <a:ahLst/>
            <a:cxnLst/>
            <a:rect l="l" t="t" r="r" b="b"/>
            <a:pathLst>
              <a:path w="5169354" h="102054">
                <a:moveTo>
                  <a:pt x="0" y="0"/>
                </a:moveTo>
                <a:lnTo>
                  <a:pt x="5169354" y="0"/>
                </a:lnTo>
                <a:lnTo>
                  <a:pt x="5169354" y="102054"/>
                </a:lnTo>
                <a:lnTo>
                  <a:pt x="0" y="1020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433457" y="4256317"/>
            <a:ext cx="771525" cy="47625"/>
          </a:xfrm>
          <a:custGeom>
            <a:avLst/>
            <a:gdLst/>
            <a:ahLst/>
            <a:cxnLst/>
            <a:rect l="l" t="t" r="r" b="b"/>
            <a:pathLst>
              <a:path w="771525" h="47625">
                <a:moveTo>
                  <a:pt x="0" y="0"/>
                </a:moveTo>
                <a:lnTo>
                  <a:pt x="771525" y="0"/>
                </a:lnTo>
                <a:lnTo>
                  <a:pt x="7715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79029" y="444954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HasHttps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203952" y="4430492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6243" y="4762507"/>
            <a:ext cx="5169354" cy="102054"/>
          </a:xfrm>
          <a:custGeom>
            <a:avLst/>
            <a:gdLst/>
            <a:ahLst/>
            <a:cxnLst/>
            <a:rect l="l" t="t" r="r" b="b"/>
            <a:pathLst>
              <a:path w="5169354" h="102054">
                <a:moveTo>
                  <a:pt x="0" y="0"/>
                </a:moveTo>
                <a:lnTo>
                  <a:pt x="5169354" y="0"/>
                </a:lnTo>
                <a:lnTo>
                  <a:pt x="5169354" y="102054"/>
                </a:lnTo>
                <a:lnTo>
                  <a:pt x="0" y="1020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433457" y="4789717"/>
            <a:ext cx="609600" cy="47625"/>
          </a:xfrm>
          <a:custGeom>
            <a:avLst/>
            <a:gdLst/>
            <a:ahLst/>
            <a:cxnLst/>
            <a:rect l="l" t="t" r="r" b="b"/>
            <a:pathLst>
              <a:path w="609600" h="47625">
                <a:moveTo>
                  <a:pt x="0" y="0"/>
                </a:moveTo>
                <a:lnTo>
                  <a:pt x="609600" y="0"/>
                </a:lnTo>
                <a:lnTo>
                  <a:pt x="6096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406243" y="5731331"/>
            <a:ext cx="5169354" cy="511629"/>
          </a:xfrm>
          <a:custGeom>
            <a:avLst/>
            <a:gdLst/>
            <a:ahLst/>
            <a:cxnLst/>
            <a:rect l="l" t="t" r="r" b="b"/>
            <a:pathLst>
              <a:path w="5169354" h="511629">
                <a:moveTo>
                  <a:pt x="0" y="0"/>
                </a:moveTo>
                <a:lnTo>
                  <a:pt x="5169354" y="0"/>
                </a:lnTo>
                <a:lnTo>
                  <a:pt x="5169354" y="511629"/>
                </a:lnTo>
                <a:lnTo>
                  <a:pt x="0" y="51162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379029" y="5704117"/>
            <a:ext cx="5191125" cy="4572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Insight: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Top 5 features account for 95% of model decisions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214" y="408214"/>
            <a:ext cx="11379654" cy="1083129"/>
          </a:xfrm>
          <a:custGeom>
            <a:avLst/>
            <a:gdLst/>
            <a:ahLst/>
            <a:cxnLst/>
            <a:rect l="l" t="t" r="r" b="b"/>
            <a:pathLst>
              <a:path w="11379654" h="1083129">
                <a:moveTo>
                  <a:pt x="0" y="0"/>
                </a:moveTo>
                <a:lnTo>
                  <a:pt x="11379654" y="0"/>
                </a:lnTo>
                <a:lnTo>
                  <a:pt x="11379654" y="1083129"/>
                </a:lnTo>
                <a:lnTo>
                  <a:pt x="0" y="1083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7829" y="587834"/>
            <a:ext cx="1119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COMPARISON: PURE ML VS HYBRID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7829" y="1045034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Three-Approach Performance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8214" y="1698173"/>
            <a:ext cx="3654879" cy="3407229"/>
          </a:xfrm>
          <a:custGeom>
            <a:avLst/>
            <a:gdLst/>
            <a:ahLst/>
            <a:cxnLst/>
            <a:rect l="l" t="t" r="r" b="b"/>
            <a:pathLst>
              <a:path w="3654879" h="3407229">
                <a:moveTo>
                  <a:pt x="0" y="0"/>
                </a:moveTo>
                <a:lnTo>
                  <a:pt x="3654879" y="0"/>
                </a:lnTo>
                <a:lnTo>
                  <a:pt x="3654879" y="3407229"/>
                </a:lnTo>
                <a:lnTo>
                  <a:pt x="0" y="3407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30679" y="1877792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PURE 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3529" y="2296892"/>
            <a:ext cx="352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96.2%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4966" y="2830292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7829" y="3238509"/>
            <a:ext cx="465790" cy="16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7829" y="3516092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Catches structural patterns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7829" y="3782792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Generalizes well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7829" y="4152909"/>
            <a:ext cx="507972" cy="16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7829" y="4430492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Misses typosquatting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7829" y="4697192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No semantic understanding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68986" y="1698173"/>
            <a:ext cx="3654879" cy="3407229"/>
          </a:xfrm>
          <a:custGeom>
            <a:avLst/>
            <a:gdLst/>
            <a:ahLst/>
            <a:cxnLst/>
            <a:rect l="l" t="t" r="r" b="b"/>
            <a:pathLst>
              <a:path w="3654879" h="3407229">
                <a:moveTo>
                  <a:pt x="0" y="0"/>
                </a:moveTo>
                <a:lnTo>
                  <a:pt x="3654879" y="0"/>
                </a:lnTo>
                <a:lnTo>
                  <a:pt x="3654879" y="3407229"/>
                </a:lnTo>
                <a:lnTo>
                  <a:pt x="0" y="3407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391451" y="1877792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PURE HEURISTICS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34301" y="2296892"/>
            <a:ext cx="352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89.4%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05738" y="2830292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48601" y="3238509"/>
            <a:ext cx="465790" cy="16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Pros: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48601" y="3516092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Catches known patterns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48601" y="3782792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Explainable rules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48601" y="4152909"/>
            <a:ext cx="507972" cy="16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48601" y="4430492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Brittle to novel attacks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48601" y="4697192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High maintenance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29758" y="1698173"/>
            <a:ext cx="3654879" cy="3407229"/>
          </a:xfrm>
          <a:custGeom>
            <a:avLst/>
            <a:gdLst/>
            <a:ahLst/>
            <a:cxnLst/>
            <a:rect l="l" t="t" r="r" b="b"/>
            <a:pathLst>
              <a:path w="3654879" h="3407229">
                <a:moveTo>
                  <a:pt x="0" y="0"/>
                </a:moveTo>
                <a:lnTo>
                  <a:pt x="3654879" y="0"/>
                </a:lnTo>
                <a:lnTo>
                  <a:pt x="3654879" y="3407229"/>
                </a:lnTo>
                <a:lnTo>
                  <a:pt x="0" y="3407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2571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252222" y="1877792"/>
            <a:ext cx="3409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HYBRID (ML + H + W)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95072" y="2296892"/>
            <a:ext cx="352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~99%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66510" y="2830292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09372" y="3238509"/>
            <a:ext cx="990855" cy="16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Advantages: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09372" y="3516092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ML catches structure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09372" y="3782792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Heuristics catch semantics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09372" y="4049492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Whitelist saves compute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09372" y="4316192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Defense-in-depth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08214" y="5312231"/>
            <a:ext cx="11379654" cy="1159329"/>
          </a:xfrm>
          <a:custGeom>
            <a:avLst/>
            <a:gdLst/>
            <a:ahLst/>
            <a:cxnLst/>
            <a:rect l="l" t="t" r="r" b="b"/>
            <a:pathLst>
              <a:path w="11379654" h="1159329">
                <a:moveTo>
                  <a:pt x="0" y="0"/>
                </a:moveTo>
                <a:lnTo>
                  <a:pt x="11379654" y="0"/>
                </a:lnTo>
                <a:lnTo>
                  <a:pt x="11379654" y="1159329"/>
                </a:lnTo>
                <a:lnTo>
                  <a:pt x="0" y="11593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87829" y="5491851"/>
            <a:ext cx="1110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 WHY HYBRID IS SUPERIOR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7829" y="5834751"/>
            <a:ext cx="11096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Mirrors enterprise security architecture (CrowdStrike model) ▶ Bypasses ML for trusted sites → saves compute power ▶ String matching catches typosquatting ML misses ▶ Lower false positive rate than pure approaches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5807" y="345807"/>
            <a:ext cx="11503844" cy="917541"/>
          </a:xfrm>
          <a:custGeom>
            <a:avLst/>
            <a:gdLst/>
            <a:ahLst/>
            <a:cxnLst/>
            <a:rect l="l" t="t" r="r" b="b"/>
            <a:pathLst>
              <a:path w="11503844" h="917541">
                <a:moveTo>
                  <a:pt x="0" y="0"/>
                </a:moveTo>
                <a:lnTo>
                  <a:pt x="11503844" y="0"/>
                </a:lnTo>
                <a:lnTo>
                  <a:pt x="11503844" y="917541"/>
                </a:lnTo>
                <a:lnTo>
                  <a:pt x="0" y="9175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6455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97962" y="497959"/>
            <a:ext cx="11344773" cy="322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7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REAL-WORLD DEPLOYMENT CONSIDERATIONS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7962" y="885262"/>
            <a:ext cx="11272154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Production Challenges &amp; Solutions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5807" y="1438550"/>
            <a:ext cx="5662012" cy="2886335"/>
          </a:xfrm>
          <a:custGeom>
            <a:avLst/>
            <a:gdLst/>
            <a:ahLst/>
            <a:cxnLst/>
            <a:rect l="l" t="t" r="r" b="b"/>
            <a:pathLst>
              <a:path w="5662012" h="2886335">
                <a:moveTo>
                  <a:pt x="0" y="0"/>
                </a:moveTo>
                <a:lnTo>
                  <a:pt x="5662012" y="0"/>
                </a:lnTo>
                <a:lnTo>
                  <a:pt x="5662012" y="2886335"/>
                </a:lnTo>
                <a:lnTo>
                  <a:pt x="0" y="28863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2275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97962" y="1590710"/>
            <a:ext cx="5454528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DEPLOYMENT CHALLENGES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7962" y="1968794"/>
            <a:ext cx="1492229" cy="142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Latency Requirements: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7962" y="2203941"/>
            <a:ext cx="542225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Sub-100ms for browser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7962" y="2429868"/>
            <a:ext cx="542225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User experience critical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7962" y="2743402"/>
            <a:ext cx="1448715" cy="142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Throughput Demands: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7962" y="2978548"/>
            <a:ext cx="542225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Thousands of URLs/second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7962" y="3204475"/>
            <a:ext cx="542225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Peak traffic handling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7962" y="3518009"/>
            <a:ext cx="1025750" cy="142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Updates: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7962" y="3753156"/>
            <a:ext cx="542225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Evolving phishing techniques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7962" y="3979083"/>
            <a:ext cx="542225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Continuous adaptation needed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5807" y="4500095"/>
            <a:ext cx="5662012" cy="2337655"/>
          </a:xfrm>
          <a:custGeom>
            <a:avLst/>
            <a:gdLst/>
            <a:ahLst/>
            <a:cxnLst/>
            <a:rect l="l" t="t" r="r" b="b"/>
            <a:pathLst>
              <a:path w="5662012" h="2337655">
                <a:moveTo>
                  <a:pt x="0" y="0"/>
                </a:moveTo>
                <a:lnTo>
                  <a:pt x="5662012" y="0"/>
                </a:lnTo>
                <a:lnTo>
                  <a:pt x="5662012" y="2337655"/>
                </a:lnTo>
                <a:lnTo>
                  <a:pt x="0" y="23376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2275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7962" y="4652255"/>
            <a:ext cx="5454528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SOLUTIONS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7962" y="5030332"/>
            <a:ext cx="1405849" cy="142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Lightweight Features: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7962" y="5265486"/>
            <a:ext cx="542225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No external API calls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7962" y="5491413"/>
            <a:ext cx="542225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Local extraction only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7962" y="5804939"/>
            <a:ext cx="889300" cy="142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Optimization: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7962" y="6040093"/>
            <a:ext cx="542225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Model caching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7962" y="6266021"/>
            <a:ext cx="542225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Whitelist optimization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7962" y="6491948"/>
            <a:ext cx="5422253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Incremental learning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84037" y="1438550"/>
            <a:ext cx="5662012" cy="5395741"/>
          </a:xfrm>
          <a:custGeom>
            <a:avLst/>
            <a:gdLst/>
            <a:ahLst/>
            <a:cxnLst/>
            <a:rect l="l" t="t" r="r" b="b"/>
            <a:pathLst>
              <a:path w="5662012" h="5395741">
                <a:moveTo>
                  <a:pt x="0" y="0"/>
                </a:moveTo>
                <a:lnTo>
                  <a:pt x="5662012" y="0"/>
                </a:lnTo>
                <a:lnTo>
                  <a:pt x="5662012" y="5395741"/>
                </a:lnTo>
                <a:lnTo>
                  <a:pt x="0" y="53957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2275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36192" y="1590710"/>
            <a:ext cx="5454528" cy="25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MLOPS INFRASTRUCTURE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9246" y="1968792"/>
            <a:ext cx="5315053" cy="691614"/>
          </a:xfrm>
          <a:custGeom>
            <a:avLst/>
            <a:gdLst/>
            <a:ahLst/>
            <a:cxnLst/>
            <a:rect l="l" t="t" r="r" b="b"/>
            <a:pathLst>
              <a:path w="5315053" h="691614">
                <a:moveTo>
                  <a:pt x="0" y="0"/>
                </a:moveTo>
                <a:lnTo>
                  <a:pt x="5315053" y="0"/>
                </a:lnTo>
                <a:lnTo>
                  <a:pt x="5315053" y="691614"/>
                </a:lnTo>
                <a:lnTo>
                  <a:pt x="0" y="6916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79126" y="2088668"/>
            <a:ext cx="5147913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Monitoring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9126" y="2346871"/>
            <a:ext cx="5139844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Track latency, throughput, accuracy drift in production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9246" y="2803340"/>
            <a:ext cx="5315053" cy="691614"/>
          </a:xfrm>
          <a:custGeom>
            <a:avLst/>
            <a:gdLst/>
            <a:ahLst/>
            <a:cxnLst/>
            <a:rect l="l" t="t" r="r" b="b"/>
            <a:pathLst>
              <a:path w="5315053" h="691614">
                <a:moveTo>
                  <a:pt x="0" y="0"/>
                </a:moveTo>
                <a:lnTo>
                  <a:pt x="5315053" y="0"/>
                </a:lnTo>
                <a:lnTo>
                  <a:pt x="5315053" y="691614"/>
                </a:lnTo>
                <a:lnTo>
                  <a:pt x="0" y="6916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79126" y="2923217"/>
            <a:ext cx="5147913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Automated Retraining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9126" y="3181419"/>
            <a:ext cx="5139844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Trigger workflows when performance degrades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9246" y="3637889"/>
            <a:ext cx="5315053" cy="691614"/>
          </a:xfrm>
          <a:custGeom>
            <a:avLst/>
            <a:gdLst/>
            <a:ahLst/>
            <a:cxnLst/>
            <a:rect l="l" t="t" r="r" b="b"/>
            <a:pathLst>
              <a:path w="5315053" h="691614">
                <a:moveTo>
                  <a:pt x="0" y="0"/>
                </a:moveTo>
                <a:lnTo>
                  <a:pt x="5315053" y="0"/>
                </a:lnTo>
                <a:lnTo>
                  <a:pt x="5315053" y="691614"/>
                </a:lnTo>
                <a:lnTo>
                  <a:pt x="0" y="6916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79126" y="3757765"/>
            <a:ext cx="5147913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A/B Testing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9126" y="4015968"/>
            <a:ext cx="5139844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Compare model versions without service interruption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9246" y="4472430"/>
            <a:ext cx="5315053" cy="691614"/>
          </a:xfrm>
          <a:custGeom>
            <a:avLst/>
            <a:gdLst/>
            <a:ahLst/>
            <a:cxnLst/>
            <a:rect l="l" t="t" r="r" b="b"/>
            <a:pathLst>
              <a:path w="5315053" h="691614">
                <a:moveTo>
                  <a:pt x="0" y="0"/>
                </a:moveTo>
                <a:lnTo>
                  <a:pt x="5315053" y="0"/>
                </a:lnTo>
                <a:lnTo>
                  <a:pt x="5315053" y="691614"/>
                </a:lnTo>
                <a:lnTo>
                  <a:pt x="0" y="6916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79126" y="4592314"/>
            <a:ext cx="5147913" cy="22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4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Rollback Capability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9126" y="4850516"/>
            <a:ext cx="5139844" cy="193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Revert to previous model if issues detected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9246" y="6229133"/>
            <a:ext cx="5315053" cy="433411"/>
          </a:xfrm>
          <a:custGeom>
            <a:avLst/>
            <a:gdLst/>
            <a:ahLst/>
            <a:cxnLst/>
            <a:rect l="l" t="t" r="r" b="b"/>
            <a:pathLst>
              <a:path w="5315053" h="433411">
                <a:moveTo>
                  <a:pt x="0" y="0"/>
                </a:moveTo>
                <a:lnTo>
                  <a:pt x="5315053" y="0"/>
                </a:lnTo>
                <a:lnTo>
                  <a:pt x="5315053" y="433411"/>
                </a:lnTo>
                <a:lnTo>
                  <a:pt x="0" y="4334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336192" y="6206080"/>
            <a:ext cx="5333496" cy="387304"/>
          </a:xfrm>
          <a:prstGeom prst="rect">
            <a:avLst/>
          </a:prstGeom>
          <a:noFill/>
          <a:ln/>
        </p:spPr>
        <p:txBody>
          <a:bodyPr wrap="square" lIns="96826" tIns="96826" rIns="96826" bIns="96826" rtlCol="0" anchor="ctr"/>
          <a:lstStyle/>
          <a:p>
            <a:pPr>
              <a:lnSpc>
                <a:spcPct val="130000"/>
              </a:lnSpc>
            </a:pPr>
            <a:r>
              <a:rPr lang="en-US" sz="10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Reference:</a:t>
            </a:r>
            <a:r>
              <a:rPr lang="en-US" sz="101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Similar systems achieve 98.2% accuracy in browser extensions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8258" y="398258"/>
            <a:ext cx="11399467" cy="1056711"/>
          </a:xfrm>
          <a:custGeom>
            <a:avLst/>
            <a:gdLst/>
            <a:ahLst/>
            <a:cxnLst/>
            <a:rect l="l" t="t" r="r" b="b"/>
            <a:pathLst>
              <a:path w="11399467" h="1056711">
                <a:moveTo>
                  <a:pt x="0" y="0"/>
                </a:moveTo>
                <a:lnTo>
                  <a:pt x="11399467" y="0"/>
                </a:lnTo>
                <a:lnTo>
                  <a:pt x="11399467" y="1056711"/>
                </a:lnTo>
                <a:lnTo>
                  <a:pt x="0" y="10567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434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73491" y="573487"/>
            <a:ext cx="11216268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LIMITATIONS &amp; ASSUMPTIONS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3491" y="1019536"/>
            <a:ext cx="11132634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Acknowledged Constraints &amp; Vulnerabilities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8258" y="1676201"/>
            <a:ext cx="5600833" cy="2394857"/>
          </a:xfrm>
          <a:custGeom>
            <a:avLst/>
            <a:gdLst/>
            <a:ahLst/>
            <a:cxnLst/>
            <a:rect l="l" t="t" r="r" b="b"/>
            <a:pathLst>
              <a:path w="5600833" h="2394857">
                <a:moveTo>
                  <a:pt x="0" y="0"/>
                </a:moveTo>
                <a:lnTo>
                  <a:pt x="5600833" y="0"/>
                </a:lnTo>
                <a:lnTo>
                  <a:pt x="5600833" y="2394857"/>
                </a:lnTo>
                <a:lnTo>
                  <a:pt x="0" y="2394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717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73491" y="1831983"/>
            <a:ext cx="5361878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DATA 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3491" y="2267415"/>
            <a:ext cx="1859034" cy="164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Structural-Only Analysis: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3491" y="2575398"/>
            <a:ext cx="5324707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ML model only analyzes URL structure, remaining blind to semantic meaning of words inside the URL. Requires heuristic layer for semantic attacks.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3491" y="3122341"/>
            <a:ext cx="1512301" cy="164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Parser Dependency: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3491" y="3393154"/>
            <a:ext cx="5324707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Assumes urllib.parse library consistently extracts domains accurately, which can occasionally fail on extremely malformed strings.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8258" y="4253387"/>
            <a:ext cx="5600833" cy="2394857"/>
          </a:xfrm>
          <a:custGeom>
            <a:avLst/>
            <a:gdLst/>
            <a:ahLst/>
            <a:cxnLst/>
            <a:rect l="l" t="t" r="r" b="b"/>
            <a:pathLst>
              <a:path w="5600833" h="2394857">
                <a:moveTo>
                  <a:pt x="0" y="0"/>
                </a:moveTo>
                <a:lnTo>
                  <a:pt x="5600833" y="0"/>
                </a:lnTo>
                <a:lnTo>
                  <a:pt x="5600833" y="2394857"/>
                </a:lnTo>
                <a:lnTo>
                  <a:pt x="0" y="23948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717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73491" y="4428626"/>
            <a:ext cx="5361878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ADVERSARIAL VULNERABILITIES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3491" y="4864048"/>
            <a:ext cx="1272517" cy="164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Evasion Attacks: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3491" y="5134870"/>
            <a:ext cx="532470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Subtle URL modifications can cause 3-10% performance degradation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3491" y="5458780"/>
            <a:ext cx="1165070" cy="164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Attack Vectors: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3491" y="5729601"/>
            <a:ext cx="532470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Character substitution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3491" y="5989797"/>
            <a:ext cx="532470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Encoding manipulation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3491" y="6249992"/>
            <a:ext cx="532470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Adversarial perturbations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6892" y="1656745"/>
            <a:ext cx="5600833" cy="2357686"/>
          </a:xfrm>
          <a:custGeom>
            <a:avLst/>
            <a:gdLst/>
            <a:ahLst/>
            <a:cxnLst/>
            <a:rect l="l" t="t" r="r" b="b"/>
            <a:pathLst>
              <a:path w="5600833" h="2357686">
                <a:moveTo>
                  <a:pt x="0" y="0"/>
                </a:moveTo>
                <a:lnTo>
                  <a:pt x="5600833" y="0"/>
                </a:lnTo>
                <a:lnTo>
                  <a:pt x="5600833" y="2357686"/>
                </a:lnTo>
                <a:lnTo>
                  <a:pt x="0" y="23576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717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72126" y="1831983"/>
            <a:ext cx="5361878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TEMPORAL LIMITATIONS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2126" y="2267415"/>
            <a:ext cx="1792824" cy="164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Historical Training Data: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72126" y="2575398"/>
            <a:ext cx="5324707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trained on historical patterns may miss entirely novel attack vectors not represented in training set.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72126" y="3122341"/>
            <a:ext cx="1065506" cy="164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Concept Drift: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72126" y="3393154"/>
            <a:ext cx="5324707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Phishing techniques evolve rapidly; model requires periodic retraining to maintain effectiveness.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6892" y="4216217"/>
            <a:ext cx="5600833" cy="2432028"/>
          </a:xfrm>
          <a:custGeom>
            <a:avLst/>
            <a:gdLst/>
            <a:ahLst/>
            <a:cxnLst/>
            <a:rect l="l" t="t" r="r" b="b"/>
            <a:pathLst>
              <a:path w="5600833" h="2432028">
                <a:moveTo>
                  <a:pt x="0" y="0"/>
                </a:moveTo>
                <a:lnTo>
                  <a:pt x="5600833" y="0"/>
                </a:lnTo>
                <a:lnTo>
                  <a:pt x="5600833" y="2432028"/>
                </a:lnTo>
                <a:lnTo>
                  <a:pt x="0" y="24320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7171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72126" y="4391455"/>
            <a:ext cx="5361878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MITIGATION STRATEGIES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72126" y="4826877"/>
            <a:ext cx="1561669" cy="164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Adversarial Training: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72126" y="5097699"/>
            <a:ext cx="532470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Include adversarial examples in training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72126" y="5357894"/>
            <a:ext cx="532470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Improve robustness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72126" y="5718975"/>
            <a:ext cx="1618835" cy="164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Continuous Learning: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72126" y="5989797"/>
            <a:ext cx="532470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Regular model updates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72126" y="6249992"/>
            <a:ext cx="532470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Online learning mechanisms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161" y="372161"/>
            <a:ext cx="11451399" cy="987468"/>
          </a:xfrm>
          <a:custGeom>
            <a:avLst/>
            <a:gdLst/>
            <a:ahLst/>
            <a:cxnLst/>
            <a:rect l="l" t="t" r="r" b="b"/>
            <a:pathLst>
              <a:path w="11451399" h="987468">
                <a:moveTo>
                  <a:pt x="0" y="0"/>
                </a:moveTo>
                <a:lnTo>
                  <a:pt x="11451399" y="0"/>
                </a:lnTo>
                <a:lnTo>
                  <a:pt x="11451399" y="987468"/>
                </a:lnTo>
                <a:lnTo>
                  <a:pt x="0" y="9874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6947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35912" y="535908"/>
            <a:ext cx="11280205" cy="34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2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ETHICAL CONSIDERATIONS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5912" y="952729"/>
            <a:ext cx="11202051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Responsible AI in Cybersecurity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2161" y="1548183"/>
            <a:ext cx="5633280" cy="2724220"/>
          </a:xfrm>
          <a:custGeom>
            <a:avLst/>
            <a:gdLst/>
            <a:ahLst/>
            <a:cxnLst/>
            <a:rect l="l" t="t" r="r" b="b"/>
            <a:pathLst>
              <a:path w="5633280" h="2724220">
                <a:moveTo>
                  <a:pt x="0" y="0"/>
                </a:moveTo>
                <a:lnTo>
                  <a:pt x="5633280" y="0"/>
                </a:lnTo>
                <a:lnTo>
                  <a:pt x="5633280" y="2724220"/>
                </a:lnTo>
                <a:lnTo>
                  <a:pt x="0" y="27242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4735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35912" y="1711939"/>
            <a:ext cx="5409983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POTENTIAL RISKS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5912" y="2118838"/>
            <a:ext cx="1528885" cy="153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Positive Impact: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5912" y="2371905"/>
            <a:ext cx="5375248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Overly aggressive filtering could block legitimate businesses, particularly small businesses with less professional web presence.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5912" y="2883009"/>
            <a:ext cx="1289616" cy="153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Privacy Concerns: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5912" y="3136076"/>
            <a:ext cx="5375248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URL analysis may reveal sensitive browsing patterns; data handling requires careful consideration.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5912" y="3647179"/>
            <a:ext cx="1992148" cy="153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Transparency Requirements: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5912" y="3900247"/>
            <a:ext cx="5375248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Users deserve clear explanations when URLs are blocked and appeal mechanisms.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2161" y="4460966"/>
            <a:ext cx="5633280" cy="2168459"/>
          </a:xfrm>
          <a:custGeom>
            <a:avLst/>
            <a:gdLst/>
            <a:ahLst/>
            <a:cxnLst/>
            <a:rect l="l" t="t" r="r" b="b"/>
            <a:pathLst>
              <a:path w="5633280" h="2168459">
                <a:moveTo>
                  <a:pt x="0" y="0"/>
                </a:moveTo>
                <a:lnTo>
                  <a:pt x="5633280" y="0"/>
                </a:lnTo>
                <a:lnTo>
                  <a:pt x="5633280" y="2168459"/>
                </a:lnTo>
                <a:lnTo>
                  <a:pt x="0" y="21684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4735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5912" y="4624722"/>
            <a:ext cx="5409983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FAIRNESS CONCERNS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5912" y="5031612"/>
            <a:ext cx="1219913" cy="153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Geographic Bias: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5912" y="5284687"/>
            <a:ext cx="5375248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trained primarily on English URLs may perform differently on non-English domains.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5912" y="5795783"/>
            <a:ext cx="1382191" cy="153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 Disparity: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5912" y="6048858"/>
            <a:ext cx="5375248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Small businesses with basic websites may be disproportionately flagged compared to enterprises with professional security setups.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2142" y="1548183"/>
            <a:ext cx="5633280" cy="5077519"/>
          </a:xfrm>
          <a:custGeom>
            <a:avLst/>
            <a:gdLst/>
            <a:ahLst/>
            <a:cxnLst/>
            <a:rect l="l" t="t" r="r" b="b"/>
            <a:pathLst>
              <a:path w="5633280" h="5077519">
                <a:moveTo>
                  <a:pt x="0" y="0"/>
                </a:moveTo>
                <a:lnTo>
                  <a:pt x="5633280" y="0"/>
                </a:lnTo>
                <a:lnTo>
                  <a:pt x="5633280" y="5077519"/>
                </a:lnTo>
                <a:lnTo>
                  <a:pt x="0" y="50775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4735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55893" y="1711939"/>
            <a:ext cx="5409983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RESPONSIBLE DEPLOYMENT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80703" y="2118835"/>
            <a:ext cx="5251194" cy="744322"/>
          </a:xfrm>
          <a:custGeom>
            <a:avLst/>
            <a:gdLst/>
            <a:ahLst/>
            <a:cxnLst/>
            <a:rect l="l" t="t" r="r" b="b"/>
            <a:pathLst>
              <a:path w="5251194" h="744322">
                <a:moveTo>
                  <a:pt x="0" y="0"/>
                </a:moveTo>
                <a:lnTo>
                  <a:pt x="5251194" y="0"/>
                </a:lnTo>
                <a:lnTo>
                  <a:pt x="5251194" y="744322"/>
                </a:lnTo>
                <a:lnTo>
                  <a:pt x="0" y="7443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09719" y="2247847"/>
            <a:ext cx="5071316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Graduated Response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9719" y="2525728"/>
            <a:ext cx="5062632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Warning labels before blocking; allow user override for uncertain cases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80703" y="3016985"/>
            <a:ext cx="5251194" cy="744322"/>
          </a:xfrm>
          <a:custGeom>
            <a:avLst/>
            <a:gdLst/>
            <a:ahLst/>
            <a:cxnLst/>
            <a:rect l="l" t="t" r="r" b="b"/>
            <a:pathLst>
              <a:path w="5251194" h="744322">
                <a:moveTo>
                  <a:pt x="0" y="0"/>
                </a:moveTo>
                <a:lnTo>
                  <a:pt x="5251194" y="0"/>
                </a:lnTo>
                <a:lnTo>
                  <a:pt x="5251194" y="744322"/>
                </a:lnTo>
                <a:lnTo>
                  <a:pt x="0" y="7443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09719" y="3145998"/>
            <a:ext cx="5071316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Explainable Decisions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09719" y="3423878"/>
            <a:ext cx="5062632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Provide clear reasoning: "Blocked due to IP-based domain + excessive length"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80703" y="3915136"/>
            <a:ext cx="5251194" cy="744322"/>
          </a:xfrm>
          <a:custGeom>
            <a:avLst/>
            <a:gdLst/>
            <a:ahLst/>
            <a:cxnLst/>
            <a:rect l="l" t="t" r="r" b="b"/>
            <a:pathLst>
              <a:path w="5251194" h="744322">
                <a:moveTo>
                  <a:pt x="0" y="0"/>
                </a:moveTo>
                <a:lnTo>
                  <a:pt x="5251194" y="0"/>
                </a:lnTo>
                <a:lnTo>
                  <a:pt x="5251194" y="744322"/>
                </a:lnTo>
                <a:lnTo>
                  <a:pt x="0" y="7443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09719" y="4044148"/>
            <a:ext cx="5071316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Appeal Mechanism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09719" y="4322028"/>
            <a:ext cx="5062632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 for legitimate sites to request whitelist addition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0703" y="4813277"/>
            <a:ext cx="5251194" cy="744322"/>
          </a:xfrm>
          <a:custGeom>
            <a:avLst/>
            <a:gdLst/>
            <a:ahLst/>
            <a:cxnLst/>
            <a:rect l="l" t="t" r="r" b="b"/>
            <a:pathLst>
              <a:path w="5251194" h="744322">
                <a:moveTo>
                  <a:pt x="0" y="0"/>
                </a:moveTo>
                <a:lnTo>
                  <a:pt x="5251194" y="0"/>
                </a:lnTo>
                <a:lnTo>
                  <a:pt x="5251194" y="744322"/>
                </a:lnTo>
                <a:lnTo>
                  <a:pt x="0" y="7443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09719" y="4942298"/>
            <a:ext cx="5071316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Regular Audits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09719" y="5220178"/>
            <a:ext cx="5062632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 for demographic bias in false positive rates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0703" y="5974425"/>
            <a:ext cx="5251194" cy="466442"/>
          </a:xfrm>
          <a:custGeom>
            <a:avLst/>
            <a:gdLst/>
            <a:ahLst/>
            <a:cxnLst/>
            <a:rect l="l" t="t" r="r" b="b"/>
            <a:pathLst>
              <a:path w="5251194" h="466442">
                <a:moveTo>
                  <a:pt x="0" y="0"/>
                </a:moveTo>
                <a:lnTo>
                  <a:pt x="5251194" y="0"/>
                </a:lnTo>
                <a:lnTo>
                  <a:pt x="5251194" y="466442"/>
                </a:lnTo>
                <a:lnTo>
                  <a:pt x="0" y="4664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55893" y="5949614"/>
            <a:ext cx="5271043" cy="416821"/>
          </a:xfrm>
          <a:prstGeom prst="rect">
            <a:avLst/>
          </a:prstGeom>
          <a:noFill/>
          <a:ln/>
        </p:spPr>
        <p:txBody>
          <a:bodyPr wrap="square" lIns="104205" tIns="104205" rIns="104205" bIns="104205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Balance:</a:t>
            </a:r>
            <a:r>
              <a:rPr lang="en-US" sz="109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Security effectiveness vs accessibility for all users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1984" y="391984"/>
            <a:ext cx="11411952" cy="1040063"/>
          </a:xfrm>
          <a:custGeom>
            <a:avLst/>
            <a:gdLst/>
            <a:ahLst/>
            <a:cxnLst/>
            <a:rect l="l" t="t" r="r" b="b"/>
            <a:pathLst>
              <a:path w="11411952" h="1040063">
                <a:moveTo>
                  <a:pt x="0" y="0"/>
                </a:moveTo>
                <a:lnTo>
                  <a:pt x="11411952" y="0"/>
                </a:lnTo>
                <a:lnTo>
                  <a:pt x="11411952" y="1040063"/>
                </a:lnTo>
                <a:lnTo>
                  <a:pt x="0" y="10400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317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64457" y="564453"/>
            <a:ext cx="11231640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3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 &amp; KEY ACHIEVEMENTS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4457" y="1003474"/>
            <a:ext cx="11149323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Outcomes &amp; Impact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1984" y="1630654"/>
            <a:ext cx="5604060" cy="2649810"/>
          </a:xfrm>
          <a:custGeom>
            <a:avLst/>
            <a:gdLst/>
            <a:ahLst/>
            <a:cxnLst/>
            <a:rect l="l" t="t" r="r" b="b"/>
            <a:pathLst>
              <a:path w="5604060" h="2649810">
                <a:moveTo>
                  <a:pt x="0" y="0"/>
                </a:moveTo>
                <a:lnTo>
                  <a:pt x="5604060" y="0"/>
                </a:lnTo>
                <a:lnTo>
                  <a:pt x="5604060" y="2649810"/>
                </a:lnTo>
                <a:lnTo>
                  <a:pt x="0" y="26498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585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4457" y="1803123"/>
            <a:ext cx="5368870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FINAL OUTCOMES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4457" y="2205559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Successfully developed a </a:t>
            </a:r>
            <a:r>
              <a:rPr lang="en-US" sz="1152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multi-layered detection pipeline</a:t>
            </a: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capable of: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4457" y="2498240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Identifying structural obfuscation (via ML)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4457" y="2754336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Detecting semantic brand spoofing (via heuristics)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4457" y="3010432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Achieving ~99% accuracy with balanced metrics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4457" y="3339699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Created a </a:t>
            </a:r>
            <a:r>
              <a:rPr lang="en-US" sz="1152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capable system</a:t>
            </a: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suitable for: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4457" y="3632380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Browser integration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4457" y="3888476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Enterprise security stacks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1984" y="4479061"/>
            <a:ext cx="5604060" cy="2357129"/>
          </a:xfrm>
          <a:custGeom>
            <a:avLst/>
            <a:gdLst/>
            <a:ahLst/>
            <a:cxnLst/>
            <a:rect l="l" t="t" r="r" b="b"/>
            <a:pathLst>
              <a:path w="5604060" h="2357129">
                <a:moveTo>
                  <a:pt x="0" y="0"/>
                </a:moveTo>
                <a:lnTo>
                  <a:pt x="5604060" y="0"/>
                </a:lnTo>
                <a:lnTo>
                  <a:pt x="5604060" y="2357129"/>
                </a:lnTo>
                <a:lnTo>
                  <a:pt x="0" y="2357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585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4457" y="4651539"/>
            <a:ext cx="5368870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KEY CONTRIBUTIONS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4457" y="5080110"/>
            <a:ext cx="2048932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 Approach Validation: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4457" y="5346657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Demonstrated superiority of ML + Heuristics over pure approaches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4457" y="5665473"/>
            <a:ext cx="2138516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Engineering Insights: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4457" y="5932019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Identified top 5 predictive features accounting for 95% of decisions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4457" y="6250835"/>
            <a:ext cx="1333398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Defense-in-Depth: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4457" y="6444211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Contributed to defense against $4.88M average breach cost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6773" y="1630654"/>
            <a:ext cx="5604060" cy="2677249"/>
          </a:xfrm>
          <a:custGeom>
            <a:avLst/>
            <a:gdLst/>
            <a:ahLst/>
            <a:cxnLst/>
            <a:rect l="l" t="t" r="r" b="b"/>
            <a:pathLst>
              <a:path w="5604060" h="2677249">
                <a:moveTo>
                  <a:pt x="0" y="0"/>
                </a:moveTo>
                <a:lnTo>
                  <a:pt x="5604060" y="0"/>
                </a:lnTo>
                <a:lnTo>
                  <a:pt x="5604060" y="2677249"/>
                </a:lnTo>
                <a:lnTo>
                  <a:pt x="0" y="26772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585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69246" y="1803123"/>
            <a:ext cx="5368870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PERFORMANCE SUMMARY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5378" y="2231691"/>
            <a:ext cx="2521762" cy="857138"/>
          </a:xfrm>
          <a:custGeom>
            <a:avLst/>
            <a:gdLst/>
            <a:ahLst/>
            <a:cxnLst/>
            <a:rect l="l" t="t" r="r" b="b"/>
            <a:pathLst>
              <a:path w="2521762" h="857138">
                <a:moveTo>
                  <a:pt x="0" y="0"/>
                </a:moveTo>
                <a:lnTo>
                  <a:pt x="2521762" y="0"/>
                </a:lnTo>
                <a:lnTo>
                  <a:pt x="2521762" y="857138"/>
                </a:lnTo>
                <a:lnTo>
                  <a:pt x="0" y="8571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48949" y="2367575"/>
            <a:ext cx="2414620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93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~99%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4680" y="2733427"/>
            <a:ext cx="232315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80874" y="2231691"/>
            <a:ext cx="2521762" cy="857138"/>
          </a:xfrm>
          <a:custGeom>
            <a:avLst/>
            <a:gdLst/>
            <a:ahLst/>
            <a:cxnLst/>
            <a:rect l="l" t="t" r="r" b="b"/>
            <a:pathLst>
              <a:path w="2521762" h="857138">
                <a:moveTo>
                  <a:pt x="0" y="0"/>
                </a:moveTo>
                <a:lnTo>
                  <a:pt x="2521762" y="0"/>
                </a:lnTo>
                <a:lnTo>
                  <a:pt x="2521762" y="857138"/>
                </a:lnTo>
                <a:lnTo>
                  <a:pt x="0" y="8571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134446" y="2367575"/>
            <a:ext cx="2414620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93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99.2%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80177" y="2733427"/>
            <a:ext cx="232315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5378" y="3250850"/>
            <a:ext cx="2521762" cy="857138"/>
          </a:xfrm>
          <a:custGeom>
            <a:avLst/>
            <a:gdLst/>
            <a:ahLst/>
            <a:cxnLst/>
            <a:rect l="l" t="t" r="r" b="b"/>
            <a:pathLst>
              <a:path w="2521762" h="857138">
                <a:moveTo>
                  <a:pt x="0" y="0"/>
                </a:moveTo>
                <a:lnTo>
                  <a:pt x="2521762" y="0"/>
                </a:lnTo>
                <a:lnTo>
                  <a:pt x="2521762" y="857138"/>
                </a:lnTo>
                <a:lnTo>
                  <a:pt x="0" y="8571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48949" y="3386734"/>
            <a:ext cx="2414620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93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4680" y="3752586"/>
            <a:ext cx="232315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080874" y="3250850"/>
            <a:ext cx="2521762" cy="857138"/>
          </a:xfrm>
          <a:custGeom>
            <a:avLst/>
            <a:gdLst/>
            <a:ahLst/>
            <a:cxnLst/>
            <a:rect l="l" t="t" r="r" b="b"/>
            <a:pathLst>
              <a:path w="2521762" h="857138">
                <a:moveTo>
                  <a:pt x="0" y="0"/>
                </a:moveTo>
                <a:lnTo>
                  <a:pt x="2521762" y="0"/>
                </a:lnTo>
                <a:lnTo>
                  <a:pt x="2521762" y="857138"/>
                </a:lnTo>
                <a:lnTo>
                  <a:pt x="0" y="8571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134446" y="3386734"/>
            <a:ext cx="2414620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93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99.6%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80177" y="3752586"/>
            <a:ext cx="232315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Score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6773" y="4505196"/>
            <a:ext cx="5604060" cy="2329690"/>
          </a:xfrm>
          <a:custGeom>
            <a:avLst/>
            <a:gdLst/>
            <a:ahLst/>
            <a:cxnLst/>
            <a:rect l="l" t="t" r="r" b="b"/>
            <a:pathLst>
              <a:path w="5604060" h="2329690">
                <a:moveTo>
                  <a:pt x="0" y="0"/>
                </a:moveTo>
                <a:lnTo>
                  <a:pt x="5604060" y="0"/>
                </a:lnTo>
                <a:lnTo>
                  <a:pt x="5604060" y="2329690"/>
                </a:lnTo>
                <a:lnTo>
                  <a:pt x="0" y="23296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585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69246" y="4677674"/>
            <a:ext cx="5368870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RESEARCH ALIGNMENT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69246" y="5080110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Results consistent with recent literature: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69246" y="5372791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Random Forest: 96-99% accuracy range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69246" y="5628887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Hybrid approaches: 95%+ accuracy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69246" y="5884983"/>
            <a:ext cx="533228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Lexical features: Strong predictors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7622" y="387622"/>
            <a:ext cx="11411588" cy="1028490"/>
          </a:xfrm>
          <a:custGeom>
            <a:avLst/>
            <a:gdLst/>
            <a:ahLst/>
            <a:cxnLst/>
            <a:rect l="l" t="t" r="r" b="b"/>
            <a:pathLst>
              <a:path w="11411588" h="1028490">
                <a:moveTo>
                  <a:pt x="0" y="0"/>
                </a:moveTo>
                <a:lnTo>
                  <a:pt x="11411588" y="0"/>
                </a:lnTo>
                <a:lnTo>
                  <a:pt x="11411588" y="1028490"/>
                </a:lnTo>
                <a:lnTo>
                  <a:pt x="0" y="10284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72356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58176" y="558172"/>
            <a:ext cx="11233282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SCOPE &amp; RESEARCH DIRECTIONS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8176" y="992308"/>
            <a:ext cx="11151881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Next Steps &amp; Improvements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7622" y="1612508"/>
            <a:ext cx="5605012" cy="2982104"/>
          </a:xfrm>
          <a:custGeom>
            <a:avLst/>
            <a:gdLst/>
            <a:ahLst/>
            <a:cxnLst/>
            <a:rect l="l" t="t" r="r" b="b"/>
            <a:pathLst>
              <a:path w="5605012" h="2982104">
                <a:moveTo>
                  <a:pt x="0" y="0"/>
                </a:moveTo>
                <a:lnTo>
                  <a:pt x="5605012" y="0"/>
                </a:lnTo>
                <a:lnTo>
                  <a:pt x="5605012" y="2982104"/>
                </a:lnTo>
                <a:lnTo>
                  <a:pt x="0" y="29821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178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58176" y="1783058"/>
            <a:ext cx="537243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IMMEDIATE IMPROVEMENTS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176" y="2206861"/>
            <a:ext cx="1197832" cy="160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 Integration: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176" y="2470441"/>
            <a:ext cx="5336261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models to dynamically analyze semantic intent of URL text, reducing reliance on hardcoded heuristic lists.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8176" y="3002777"/>
            <a:ext cx="1519962" cy="160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Adversarial Training: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8176" y="3266358"/>
            <a:ext cx="5336261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Improve robustness against evasion attacks through adversarial example inclusion in training data.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8176" y="3798694"/>
            <a:ext cx="1455601" cy="160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Expanded Features: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8176" y="3989919"/>
            <a:ext cx="5336261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HTML content analysis and visual similarity detection for cloned webpage identification.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7622" y="4791000"/>
            <a:ext cx="5605012" cy="2041475"/>
          </a:xfrm>
          <a:custGeom>
            <a:avLst/>
            <a:gdLst/>
            <a:ahLst/>
            <a:cxnLst/>
            <a:rect l="l" t="t" r="r" b="b"/>
            <a:pathLst>
              <a:path w="5605012" h="2041475">
                <a:moveTo>
                  <a:pt x="0" y="0"/>
                </a:moveTo>
                <a:lnTo>
                  <a:pt x="5605012" y="0"/>
                </a:lnTo>
                <a:lnTo>
                  <a:pt x="5605012" y="2041475"/>
                </a:lnTo>
                <a:lnTo>
                  <a:pt x="0" y="20414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178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58176" y="4961559"/>
            <a:ext cx="537243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ADVANCED RESEARCH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8176" y="5385361"/>
            <a:ext cx="1575602" cy="160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Continuous Learning: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8176" y="5648942"/>
            <a:ext cx="5336261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model adaptation mechanisms for evolving threat landscapes.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8176" y="5964210"/>
            <a:ext cx="1463515" cy="160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Federated Learning: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8176" y="6227790"/>
            <a:ext cx="5336261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Privacy-preserving model updates across distributed systems without centralizing sensitive URL data.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2179" y="1612508"/>
            <a:ext cx="5605012" cy="3542864"/>
          </a:xfrm>
          <a:custGeom>
            <a:avLst/>
            <a:gdLst/>
            <a:ahLst/>
            <a:cxnLst/>
            <a:rect l="l" t="t" r="r" b="b"/>
            <a:pathLst>
              <a:path w="5605012" h="3542864">
                <a:moveTo>
                  <a:pt x="0" y="0"/>
                </a:moveTo>
                <a:lnTo>
                  <a:pt x="5605012" y="0"/>
                </a:lnTo>
                <a:lnTo>
                  <a:pt x="5605012" y="3542864"/>
                </a:lnTo>
                <a:lnTo>
                  <a:pt x="0" y="35428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2571">
            <a:solidFill>
              <a:srgbClr val="000000"/>
            </a:solidFill>
            <a:prstDash val="solid"/>
          </a:ln>
          <a:effectLst>
            <a:outerShdw blurRad="101600" dist="36178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62732" y="1783058"/>
            <a:ext cx="537243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DEPLOYMENT ENHANCEMENTS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88574" y="2206858"/>
            <a:ext cx="5216098" cy="594354"/>
          </a:xfrm>
          <a:custGeom>
            <a:avLst/>
            <a:gdLst/>
            <a:ahLst/>
            <a:cxnLst/>
            <a:rect l="l" t="t" r="r" b="b"/>
            <a:pathLst>
              <a:path w="5216098" h="594354">
                <a:moveTo>
                  <a:pt x="0" y="0"/>
                </a:moveTo>
                <a:lnTo>
                  <a:pt x="5216098" y="0"/>
                </a:lnTo>
                <a:lnTo>
                  <a:pt x="5216098" y="594354"/>
                </a:lnTo>
                <a:lnTo>
                  <a:pt x="0" y="5943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86772" y="2305052"/>
            <a:ext cx="50920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Browser Extension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86772" y="2522120"/>
            <a:ext cx="50830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protection for end users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88574" y="2925252"/>
            <a:ext cx="5216098" cy="594354"/>
          </a:xfrm>
          <a:custGeom>
            <a:avLst/>
            <a:gdLst/>
            <a:ahLst/>
            <a:cxnLst/>
            <a:rect l="l" t="t" r="r" b="b"/>
            <a:pathLst>
              <a:path w="5216098" h="594354">
                <a:moveTo>
                  <a:pt x="0" y="0"/>
                </a:moveTo>
                <a:lnTo>
                  <a:pt x="5216098" y="0"/>
                </a:lnTo>
                <a:lnTo>
                  <a:pt x="5216098" y="594354"/>
                </a:lnTo>
                <a:lnTo>
                  <a:pt x="0" y="5943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86772" y="3023446"/>
            <a:ext cx="50920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Enterprise API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86772" y="3240514"/>
            <a:ext cx="50830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 with security stacks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88574" y="3643646"/>
            <a:ext cx="5216098" cy="594354"/>
          </a:xfrm>
          <a:custGeom>
            <a:avLst/>
            <a:gdLst/>
            <a:ahLst/>
            <a:cxnLst/>
            <a:rect l="l" t="t" r="r" b="b"/>
            <a:pathLst>
              <a:path w="5216098" h="594354">
                <a:moveTo>
                  <a:pt x="0" y="0"/>
                </a:moveTo>
                <a:lnTo>
                  <a:pt x="5216098" y="0"/>
                </a:lnTo>
                <a:lnTo>
                  <a:pt x="5216098" y="594354"/>
                </a:lnTo>
                <a:lnTo>
                  <a:pt x="0" y="5943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86772" y="3741839"/>
            <a:ext cx="50920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Mobile SDK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86772" y="3958908"/>
            <a:ext cx="50830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Protection for mobile applications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8574" y="4362039"/>
            <a:ext cx="5216098" cy="594354"/>
          </a:xfrm>
          <a:custGeom>
            <a:avLst/>
            <a:gdLst/>
            <a:ahLst/>
            <a:cxnLst/>
            <a:rect l="l" t="t" r="r" b="b"/>
            <a:pathLst>
              <a:path w="5216098" h="594354">
                <a:moveTo>
                  <a:pt x="0" y="0"/>
                </a:moveTo>
                <a:lnTo>
                  <a:pt x="5216098" y="0"/>
                </a:lnTo>
                <a:lnTo>
                  <a:pt x="5216098" y="594354"/>
                </a:lnTo>
                <a:lnTo>
                  <a:pt x="0" y="5943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2571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86772" y="4460233"/>
            <a:ext cx="5092059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Threat Intelligence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86772" y="4677301"/>
            <a:ext cx="5083015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Share detection patterns with community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2179" y="5349181"/>
            <a:ext cx="5605012" cy="1480716"/>
          </a:xfrm>
          <a:custGeom>
            <a:avLst/>
            <a:gdLst/>
            <a:ahLst/>
            <a:cxnLst/>
            <a:rect l="l" t="t" r="r" b="b"/>
            <a:pathLst>
              <a:path w="5605012" h="1480716">
                <a:moveTo>
                  <a:pt x="0" y="0"/>
                </a:moveTo>
                <a:lnTo>
                  <a:pt x="5605012" y="0"/>
                </a:lnTo>
                <a:lnTo>
                  <a:pt x="5605012" y="1480716"/>
                </a:lnTo>
                <a:lnTo>
                  <a:pt x="0" y="14807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2571">
            <a:solidFill>
              <a:srgbClr val="000000"/>
            </a:solidFill>
            <a:prstDash val="solid"/>
          </a:ln>
          <a:effectLst>
            <a:outerShdw blurRad="101600" dist="36178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294899" y="5602429"/>
            <a:ext cx="5399573" cy="325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7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17510" y="6036566"/>
            <a:ext cx="535435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4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26554" y="6362168"/>
            <a:ext cx="5336261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PhishGuard: Defending Against the $4.88B Phishing Threat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2309</Words>
  <Application>Microsoft Office PowerPoint</Application>
  <PresentationFormat>Widescreen</PresentationFormat>
  <Paragraphs>485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MiSans</vt:lpstr>
      <vt:lpstr>Noto Sans SC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PhishGuard: Phishing URL Deobfuscator</dc:title>
  <dc:subject>PhishGuard: Phishing URL Deobfuscator</dc:subject>
  <dc:creator>Kimi</dc:creator>
  <cp:lastModifiedBy>S SK</cp:lastModifiedBy>
  <cp:revision>1</cp:revision>
  <dcterms:created xsi:type="dcterms:W3CDTF">2026-03-02T19:18:47Z</dcterms:created>
  <dcterms:modified xsi:type="dcterms:W3CDTF">2026-03-31T05:41:53Z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{"Label":"PhishGuard: Phishing URL Deobfuscator","ContentProducer":"001191110108MACG2KBH8F10000","ProduceID":"19cafe04-b9e2-8977-8000-0000b2f6ffa7","ReservedCode1":"","ContentPropagator":"001191110108MACG2KBH8F20000","PropagateID":"19cafe04-b9e2-8977-8000-0000b2f6ffa7","ReservedCode2":""}</vt:lpwstr>
  </property>
</Properties>
</file>